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EverBloom investor deck. Marketing will make or break census, so this portfolio shows investors exactly how EverBloom finds patients, what it costs and how it is measured. Everything is run in-house: no agencies, no lead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82% occupancy EverBloom averages about 16.4 residents. With a 30-day average stay, that is roughly 16 to 17 new admissions every month. The length of stay is a planning assumption to confirm with Dr. Bokhari and payer authorization patterns. The full engine, meaning the outreach manager and admissions coordinators at about $170K a year plus $300K of paid media and $36K of software, is about $506K, or about 6% of base-case Year 2 net revenue of $8.51M. Ashlee's brand and content work sits inside the COO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EverBloom mark, a woman rising from a lotus, carries the promise: growth after a hard season. Every touchpoint uses the same five colors and two typefaces, from the website to the admissions packet. Ashlee owns the brand guide and content herself, so it stays consistent as the team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women and families will meet EverBloom on a phone, often late at night. The site's only job is to build enough trust that they call or request a benefits check. It goes live in Month 4 so search engines have two months to index it before opening, and it is built in-house so it can change the same day an ad or referral campaign needs it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where intent lives. Someone typing women's mental health treatment near me is ready to talk. EverBloom invests early in local search and condition pages because they keep producing calls without paying per click, which lowers the cost of every admission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a starting point, not a commitment. The outreach and digital marketing manager reviews cost per admission by channel every week and moves money toward what works. Every call is tracked back to its source so the budget follows admissions, not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shape the whole plan. Choosing primary mental health instead of addiction treatment removes the LegitScript gate entirely. Google and Meta both restrict how health advertisers can target and track people, which is why EverBloom leans on search intent, local SEO, referral partners and its own call tracking rather than audience lists and pixels. Platform rules change often, so the outreach and digital marketing manager reviews them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outreach and digital marketing manager starts in Month 3, three months before opening, so the major referral sources have toured the facility and met the clinical team by launch. Ashlee and the Clinical Director join the key hospital and specialist visits. Many callers ask specifically for OCD and eating disorder care, so OCD and ED specialists are a priority list of their own. Each partner gets a direct line, fast responses and discharge updates with consent. Florida's Patient Brokering Act makes it a crime to pay anyone to induce a patient referral, so EverBloom pays its outreach staff a salary and never pays referral sources. Any incentive plan gets legal review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treatment programs lose patients between the first call and admission: voicemail at 2 a.m., slow benefits checks, no follow-up. EverBloom answers every call around the clock (coordinators by day, an on-call phone after hours), verifies benefits the same day and follows up on every inquiry. Callers who are not a fit are warmly referred elsewhere, which builds trust with families and referral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health marketing is a heavily watched space. A federal court vacated part of HHS's online tracking guidance in 2024, but HHS still expects providers to review tracking tools for HIPAA compliance, and many hospitals have faced lawsuits over pixels. Florida's Patient Brokering Act applies to any health care provider. EverBloom builds these rules in from the start, which also protects the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come straight from the staffing roster and operating assumptions in the EverBloom pro forma. Outreach and digital marketing manager $85.4K; admissions and verification coordinators, 1.5 FTE, $84.2K; paid media $25K a month once open and $10K a month from Month 4; software $3K a month. Ashlee covers brand, content and the website as part of the COO role, so there is no separate marketing director or designer to pay. If census runs behind, paid media is the first dial to turn, week by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month of census depends on work done before opening. Ashlee builds the brand, website and systems from Month 1, and the outreach manager starts three months ahead of launch. By Month 6 the website has been live for two months, referral partners have toured, and the admissions team has practiced. That is what makes the 25% first-month occupancy in the base case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for each metric are set after the first 90 days of real data. The detailed playbook for the in-house team, including channel plans, scripts, content calendar and compliance rules, is in the EverBloom Marketing Playbook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6654800"/>
            <a:ext cx="12192000" cy="203200"/>
          </a:xfrm>
          <a:prstGeom prst="rect">
            <a:avLst/>
          </a:prstGeom>
          <a:solidFill>
            <a:srgbClr val="4A1A33"/>
          </a:solidFill>
          <a:ln/>
        </p:spPr>
      </p:sp>
      <p:pic>
        <p:nvPicPr>
          <p:cNvPr id="3" name="Image 0" descr="The EverBloom Center for Women logo: a woman's profile rising from a blooming lotus, with the tagline Where women heal, rebuild and become">    </p:cNvPr>
          <p:cNvPicPr>
            <a:picLocks noChangeAspect="1"/>
          </p:cNvPicPr>
          <p:nvPr/>
        </p:nvPicPr>
        <p:blipFill>
          <a:blip r:embed="rId1"/>
          <a:srcRect l="-1152" r="-1152" t="0" b="0"/>
          <a:stretch/>
        </p:blipFill>
        <p:spPr>
          <a:xfrm>
            <a:off x="812800" y="1476375"/>
            <a:ext cx="5207000" cy="3905250"/>
          </a:xfrm>
          <a:prstGeom prst="rect">
            <a:avLst/>
          </a:prstGeom>
        </p:spPr>
      </p:pic>
      <p:sp>
        <p:nvSpPr>
          <p:cNvPr id="4" name="Text 1"/>
          <p:cNvSpPr/>
          <p:nvPr/>
        </p:nvSpPr>
        <p:spPr>
          <a:xfrm>
            <a:off x="6426200" y="2194057"/>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A6A48"/>
                </a:solidFill>
                <a:latin typeface="DM Sans" pitchFamily="34" charset="0"/>
                <a:ea typeface="DM Sans" pitchFamily="34" charset="-122"/>
                <a:cs typeface="DM Sans" pitchFamily="34" charset="-120"/>
              </a:rPr>
              <a:t>MARKETING AND BRAND PORTFOLIO</a:t>
            </a:r>
            <a:endParaRPr lang="en-US" sz="1200" dirty="0"/>
          </a:p>
        </p:txBody>
      </p:sp>
      <p:sp>
        <p:nvSpPr>
          <p:cNvPr id="5" name="Text 2"/>
          <p:cNvSpPr/>
          <p:nvPr/>
        </p:nvSpPr>
        <p:spPr>
          <a:xfrm>
            <a:off x="6426200" y="2610578"/>
            <a:ext cx="5101590" cy="1102254"/>
          </a:xfrm>
          <a:prstGeom prst="rect">
            <a:avLst/>
          </a:prstGeom>
          <a:noFill/>
          <a:ln/>
        </p:spPr>
        <p:txBody>
          <a:bodyPr wrap="square" lIns="0" tIns="0" rIns="0" bIns="0" rtlCol="0" anchor="t">
            <a:normAutofit/>
          </a:bodyPr>
          <a:lstStyle/>
          <a:p>
            <a:pPr algn="l" indent="0" marL="0">
              <a:lnSpc>
                <a:spcPts val="4240"/>
              </a:lnSpc>
              <a:buNone/>
            </a:pPr>
            <a:r>
              <a:rPr lang="en-US" sz="4000" b="1" dirty="0">
                <a:solidFill>
                  <a:srgbClr val="4A1A33"/>
                </a:solidFill>
                <a:latin typeface="Cormorant Garamond" pitchFamily="34" charset="0"/>
                <a:ea typeface="Cormorant Garamond" pitchFamily="34" charset="-122"/>
                <a:cs typeface="Cormorant Garamond" pitchFamily="34" charset="-120"/>
              </a:rPr>
              <a:t>How EverBloom fills its beds, in-house</a:t>
            </a:r>
            <a:endParaRPr lang="en-US" sz="4000" dirty="0"/>
          </a:p>
        </p:txBody>
      </p:sp>
      <p:sp>
        <p:nvSpPr>
          <p:cNvPr id="6" name="Text 3"/>
          <p:cNvSpPr/>
          <p:nvPr/>
        </p:nvSpPr>
        <p:spPr>
          <a:xfrm>
            <a:off x="6426200" y="3890632"/>
            <a:ext cx="510159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C4550"/>
                </a:solidFill>
                <a:latin typeface="DM Sans" pitchFamily="34" charset="0"/>
                <a:ea typeface="DM Sans" pitchFamily="34" charset="-122"/>
                <a:cs typeface="DM Sans" pitchFamily="34" charset="-120"/>
              </a:rPr>
              <a:t>Brand, website, search, paid media, referral partners and admissions that answer around the clock, run by EverBloom employees from day one.</a:t>
            </a:r>
            <a:endParaRPr lang="en-US" sz="1400" dirty="0"/>
          </a:p>
        </p:txBody>
      </p:sp>
      <p:sp>
        <p:nvSpPr>
          <p:cNvPr id="7" name="Text 4"/>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Confidential · Preliminary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WHAT MARKETING HAS TO DELIVER</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About 17 new residents a month keeps EverBloom full</a:t>
            </a:r>
            <a:endParaRPr lang="en-US" sz="3600" dirty="0"/>
          </a:p>
        </p:txBody>
      </p:sp>
      <p:sp>
        <p:nvSpPr>
          <p:cNvPr id="4" name="Shape 2"/>
          <p:cNvSpPr/>
          <p:nvPr/>
        </p:nvSpPr>
        <p:spPr>
          <a:xfrm>
            <a:off x="812800" y="1926233"/>
            <a:ext cx="2527300" cy="1740628"/>
          </a:xfrm>
          <a:prstGeom prst="roundRect">
            <a:avLst>
              <a:gd name="adj" fmla="val 5837"/>
            </a:avLst>
          </a:prstGeom>
          <a:solidFill>
            <a:srgbClr val="4A1A33"/>
          </a:solidFill>
          <a:ln/>
        </p:spPr>
      </p:sp>
      <p:sp>
        <p:nvSpPr>
          <p:cNvPr id="5" name="Text 3"/>
          <p:cNvSpPr/>
          <p:nvPr/>
        </p:nvSpPr>
        <p:spPr>
          <a:xfrm>
            <a:off x="1041400" y="2154833"/>
            <a:ext cx="213220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7B8B0"/>
                </a:solidFill>
                <a:latin typeface="Cormorant Garamond" pitchFamily="34" charset="0"/>
                <a:ea typeface="Cormorant Garamond" pitchFamily="34" charset="-122"/>
                <a:cs typeface="Cormorant Garamond" pitchFamily="34" charset="-120"/>
              </a:rPr>
              <a:t>16–17</a:t>
            </a:r>
            <a:endParaRPr lang="en-US" sz="4400" dirty="0"/>
          </a:p>
        </p:txBody>
      </p:sp>
      <p:sp>
        <p:nvSpPr>
          <p:cNvPr id="6" name="Text 4"/>
          <p:cNvSpPr/>
          <p:nvPr/>
        </p:nvSpPr>
        <p:spPr>
          <a:xfrm>
            <a:off x="1041400" y="2789833"/>
            <a:ext cx="21322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DCDD"/>
                </a:solidFill>
                <a:latin typeface="DM Sans" pitchFamily="34" charset="0"/>
                <a:ea typeface="DM Sans" pitchFamily="34" charset="-122"/>
                <a:cs typeface="DM Sans" pitchFamily="34" charset="-120"/>
              </a:rPr>
              <a:t>residential admissions a month at base-case census</a:t>
            </a:r>
            <a:endParaRPr lang="en-US" sz="1200" dirty="0"/>
          </a:p>
        </p:txBody>
      </p:sp>
      <p:sp>
        <p:nvSpPr>
          <p:cNvPr id="7" name="Shape 5"/>
          <p:cNvSpPr/>
          <p:nvPr/>
        </p:nvSpPr>
        <p:spPr>
          <a:xfrm>
            <a:off x="3495675" y="1929408"/>
            <a:ext cx="2520950" cy="1734278"/>
          </a:xfrm>
          <a:prstGeom prst="roundRect">
            <a:avLst>
              <a:gd name="adj" fmla="val 5675"/>
            </a:avLst>
          </a:prstGeom>
          <a:solidFill>
            <a:srgbClr val="FFFDF8"/>
          </a:solidFill>
          <a:ln w="6350">
            <a:solidFill>
              <a:srgbClr val="E8DDD3"/>
            </a:solidFill>
            <a:prstDash val="solid"/>
          </a:ln>
        </p:spPr>
      </p:sp>
      <p:sp>
        <p:nvSpPr>
          <p:cNvPr id="8" name="Text 6"/>
          <p:cNvSpPr/>
          <p:nvPr/>
        </p:nvSpPr>
        <p:spPr>
          <a:xfrm>
            <a:off x="3725333" y="2159067"/>
            <a:ext cx="212348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4A1A33"/>
                </a:solidFill>
                <a:latin typeface="Cormorant Garamond" pitchFamily="34" charset="0"/>
                <a:ea typeface="Cormorant Garamond" pitchFamily="34" charset="-122"/>
                <a:cs typeface="Cormorant Garamond" pitchFamily="34" charset="-120"/>
              </a:rPr>
              <a:t>$33K</a:t>
            </a:r>
            <a:endParaRPr lang="en-US" sz="4400" dirty="0"/>
          </a:p>
        </p:txBody>
      </p:sp>
      <p:sp>
        <p:nvSpPr>
          <p:cNvPr id="9" name="Text 7"/>
          <p:cNvSpPr/>
          <p:nvPr/>
        </p:nvSpPr>
        <p:spPr>
          <a:xfrm>
            <a:off x="3725333" y="2794067"/>
            <a:ext cx="21234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residential revenue from one 30-day stay at $1,100 a day</a:t>
            </a:r>
            <a:endParaRPr lang="en-US" sz="1200" dirty="0"/>
          </a:p>
        </p:txBody>
      </p:sp>
      <p:sp>
        <p:nvSpPr>
          <p:cNvPr id="10" name="Shape 8"/>
          <p:cNvSpPr/>
          <p:nvPr/>
        </p:nvSpPr>
        <p:spPr>
          <a:xfrm>
            <a:off x="6175375" y="1929408"/>
            <a:ext cx="2520950" cy="1734278"/>
          </a:xfrm>
          <a:prstGeom prst="roundRect">
            <a:avLst>
              <a:gd name="adj" fmla="val 5675"/>
            </a:avLst>
          </a:prstGeom>
          <a:solidFill>
            <a:srgbClr val="FFFDF8"/>
          </a:solidFill>
          <a:ln w="6350">
            <a:solidFill>
              <a:srgbClr val="E8DDD3"/>
            </a:solidFill>
            <a:prstDash val="solid"/>
          </a:ln>
        </p:spPr>
      </p:sp>
      <p:sp>
        <p:nvSpPr>
          <p:cNvPr id="11" name="Text 9"/>
          <p:cNvSpPr/>
          <p:nvPr/>
        </p:nvSpPr>
        <p:spPr>
          <a:xfrm>
            <a:off x="6405033" y="2159067"/>
            <a:ext cx="212348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4A1A33"/>
                </a:solidFill>
                <a:latin typeface="Cormorant Garamond" pitchFamily="34" charset="0"/>
                <a:ea typeface="Cormorant Garamond" pitchFamily="34" charset="-122"/>
                <a:cs typeface="Cormorant Garamond" pitchFamily="34" charset="-120"/>
              </a:rPr>
              <a:t>~$1.5K</a:t>
            </a:r>
            <a:endParaRPr lang="en-US" sz="4400" dirty="0"/>
          </a:p>
        </p:txBody>
      </p:sp>
      <p:sp>
        <p:nvSpPr>
          <p:cNvPr id="12" name="Text 10"/>
          <p:cNvSpPr/>
          <p:nvPr/>
        </p:nvSpPr>
        <p:spPr>
          <a:xfrm>
            <a:off x="6405033" y="2794067"/>
            <a:ext cx="21234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paid media per admission ($25K a month ÷ ~17)</a:t>
            </a:r>
            <a:endParaRPr lang="en-US" sz="1200" dirty="0"/>
          </a:p>
        </p:txBody>
      </p:sp>
      <p:sp>
        <p:nvSpPr>
          <p:cNvPr id="13" name="Shape 11"/>
          <p:cNvSpPr/>
          <p:nvPr/>
        </p:nvSpPr>
        <p:spPr>
          <a:xfrm>
            <a:off x="8855075" y="1929408"/>
            <a:ext cx="2520950" cy="1734278"/>
          </a:xfrm>
          <a:prstGeom prst="roundRect">
            <a:avLst>
              <a:gd name="adj" fmla="val 5675"/>
            </a:avLst>
          </a:prstGeom>
          <a:solidFill>
            <a:srgbClr val="FFFDF8"/>
          </a:solidFill>
          <a:ln w="6350">
            <a:solidFill>
              <a:srgbClr val="E8DDD3"/>
            </a:solidFill>
            <a:prstDash val="solid"/>
          </a:ln>
        </p:spPr>
      </p:sp>
      <p:sp>
        <p:nvSpPr>
          <p:cNvPr id="14" name="Text 12"/>
          <p:cNvSpPr/>
          <p:nvPr/>
        </p:nvSpPr>
        <p:spPr>
          <a:xfrm>
            <a:off x="9084734" y="2159067"/>
            <a:ext cx="212348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647556"/>
                </a:solidFill>
                <a:latin typeface="Cormorant Garamond" pitchFamily="34" charset="0"/>
                <a:ea typeface="Cormorant Garamond" pitchFamily="34" charset="-122"/>
                <a:cs typeface="Cormorant Garamond" pitchFamily="34" charset="-120"/>
              </a:rPr>
              <a:t>6%</a:t>
            </a:r>
            <a:endParaRPr lang="en-US" sz="4400" dirty="0"/>
          </a:p>
        </p:txBody>
      </p:sp>
      <p:sp>
        <p:nvSpPr>
          <p:cNvPr id="15" name="Text 13"/>
          <p:cNvSpPr/>
          <p:nvPr/>
        </p:nvSpPr>
        <p:spPr>
          <a:xfrm>
            <a:off x="9084734" y="2794067"/>
            <a:ext cx="212348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of Year 2 net revenue for the whole marketing and admissions engine</a:t>
            </a:r>
            <a:endParaRPr lang="en-US" sz="1200" dirty="0"/>
          </a:p>
        </p:txBody>
      </p:sp>
      <p:sp>
        <p:nvSpPr>
          <p:cNvPr id="16" name="Text 14"/>
          <p:cNvSpPr/>
          <p:nvPr/>
        </p:nvSpPr>
        <p:spPr>
          <a:xfrm>
            <a:off x="812800" y="3971661"/>
            <a:ext cx="102031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1A33"/>
                </a:solidFill>
                <a:latin typeface="DM Sans" pitchFamily="34" charset="0"/>
                <a:ea typeface="DM Sans" pitchFamily="34" charset="-122"/>
                <a:cs typeface="DM Sans" pitchFamily="34" charset="-120"/>
              </a:rPr>
              <a:t>Every admission also feeds PHP, IOP and outpatient.</a:t>
            </a:r>
            <a:r>
              <a:rPr lang="en-US" sz="1400" dirty="0">
                <a:solidFill>
                  <a:srgbClr val="4A1A33"/>
                </a:solidFill>
                <a:latin typeface="DM Sans" pitchFamily="34" charset="0"/>
                <a:ea typeface="DM Sans" pitchFamily="34" charset="-122"/>
                <a:cs typeface="DM Sans" pitchFamily="34" charset="-120"/>
              </a:rPr>
              <a:t> One well-handled call can mean three months of care across the continuum.</a:t>
            </a:r>
            <a:endParaRPr lang="en-US" sz="1400" dirty="0"/>
          </a:p>
        </p:txBody>
      </p:sp>
      <p:sp>
        <p:nvSpPr>
          <p:cNvPr id="17" name="Text 1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Planning assumption: 30-day average residential stay, 82% occupancy of 20 beds. Budget from the EverBloom pro forma.</a:t>
            </a:r>
            <a:endParaRPr lang="en-US" sz="1200" dirty="0"/>
          </a:p>
        </p:txBody>
      </p:sp>
      <p:sp>
        <p:nvSpPr>
          <p:cNvPr id="18" name="Text 1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02</a:t>
            </a:r>
            <a:endParaRPr lang="en-US" sz="1200" dirty="0"/>
          </a:p>
        </p:txBody>
      </p:sp>
      <p:sp>
        <p:nvSpPr>
          <p:cNvPr id="19" name="Shape 17"/>
          <p:cNvSpPr/>
          <p:nvPr/>
        </p:nvSpPr>
        <p:spPr>
          <a:xfrm>
            <a:off x="0" y="6781800"/>
            <a:ext cx="12192000" cy="76200"/>
          </a:xfrm>
          <a:prstGeom prst="rect">
            <a:avLst/>
          </a:prstGeom>
          <a:solidFill>
            <a:srgbClr val="4A1A33"/>
          </a:solidFill>
          <a:ln/>
        </p:spPr>
      </p:sp>
      <p:pic>
        <p:nvPicPr>
          <p:cNvPr id="20"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THE BRAND</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Where women heal, rebuild and become</a:t>
            </a:r>
            <a:endParaRPr lang="en-US" sz="3600" dirty="0"/>
          </a:p>
        </p:txBody>
      </p:sp>
      <p:sp>
        <p:nvSpPr>
          <p:cNvPr id="4" name="Shape 2"/>
          <p:cNvSpPr/>
          <p:nvPr/>
        </p:nvSpPr>
        <p:spPr>
          <a:xfrm>
            <a:off x="812800" y="1875433"/>
            <a:ext cx="3556000" cy="2667000"/>
          </a:xfrm>
          <a:prstGeom prst="roundRect">
            <a:avLst>
              <a:gd name="adj" fmla="val 3810"/>
            </a:avLst>
          </a:prstGeom>
          <a:solidFill>
            <a:srgbClr val="F3EAE3"/>
          </a:solidFill>
          <a:ln/>
        </p:spPr>
      </p:sp>
      <p:pic>
        <p:nvPicPr>
          <p:cNvPr id="5" name="Image 0" descr="The EverBloom Center for Women logo">    </p:cNvPr>
          <p:cNvPicPr>
            <a:picLocks noChangeAspect="1"/>
          </p:cNvPicPr>
          <p:nvPr/>
        </p:nvPicPr>
        <p:blipFill>
          <a:blip r:embed="rId1"/>
          <a:srcRect l="0" r="0" t="0" b="0"/>
          <a:stretch/>
        </p:blipFill>
        <p:spPr>
          <a:xfrm>
            <a:off x="812800" y="1875433"/>
            <a:ext cx="3556000" cy="2667000"/>
          </a:xfrm>
          <a:prstGeom prst="roundRect">
            <a:avLst>
              <a:gd name="adj" fmla="val 3810"/>
            </a:avLst>
          </a:prstGeom>
        </p:spPr>
      </p:pic>
      <p:sp>
        <p:nvSpPr>
          <p:cNvPr id="6" name="Shape 3"/>
          <p:cNvSpPr/>
          <p:nvPr/>
        </p:nvSpPr>
        <p:spPr>
          <a:xfrm>
            <a:off x="4673600" y="1875433"/>
            <a:ext cx="1259814" cy="457200"/>
          </a:xfrm>
          <a:prstGeom prst="roundRect">
            <a:avLst>
              <a:gd name="adj" fmla="val 13889"/>
            </a:avLst>
          </a:prstGeom>
          <a:solidFill>
            <a:srgbClr val="4A1A33"/>
          </a:solidFill>
          <a:ln/>
        </p:spPr>
      </p:sp>
      <p:sp>
        <p:nvSpPr>
          <p:cNvPr id="7" name="Text 4"/>
          <p:cNvSpPr/>
          <p:nvPr/>
        </p:nvSpPr>
        <p:spPr>
          <a:xfrm>
            <a:off x="4673600" y="2383433"/>
            <a:ext cx="13106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1522"/>
                </a:solidFill>
                <a:latin typeface="DM Sans" pitchFamily="34" charset="0"/>
                <a:ea typeface="DM Sans" pitchFamily="34" charset="-122"/>
                <a:cs typeface="DM Sans" pitchFamily="34" charset="-120"/>
              </a:rPr>
              <a:t>Wine #4A1A33</a:t>
            </a:r>
            <a:endParaRPr lang="en-US" sz="1200" dirty="0"/>
          </a:p>
        </p:txBody>
      </p:sp>
      <p:sp>
        <p:nvSpPr>
          <p:cNvPr id="8" name="Shape 5"/>
          <p:cNvSpPr/>
          <p:nvPr/>
        </p:nvSpPr>
        <p:spPr>
          <a:xfrm>
            <a:off x="6035014" y="1875433"/>
            <a:ext cx="1259880" cy="457200"/>
          </a:xfrm>
          <a:prstGeom prst="roundRect">
            <a:avLst>
              <a:gd name="adj" fmla="val 13889"/>
            </a:avLst>
          </a:prstGeom>
          <a:solidFill>
            <a:srgbClr val="E7B8B0"/>
          </a:solidFill>
          <a:ln/>
        </p:spPr>
      </p:sp>
      <p:sp>
        <p:nvSpPr>
          <p:cNvPr id="9" name="Text 6"/>
          <p:cNvSpPr/>
          <p:nvPr/>
        </p:nvSpPr>
        <p:spPr>
          <a:xfrm>
            <a:off x="6035014" y="2383433"/>
            <a:ext cx="1310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1522"/>
                </a:solidFill>
                <a:latin typeface="DM Sans" pitchFamily="34" charset="0"/>
                <a:ea typeface="DM Sans" pitchFamily="34" charset="-122"/>
                <a:cs typeface="DM Sans" pitchFamily="34" charset="-120"/>
              </a:rPr>
              <a:t>Blush #E7B8B0</a:t>
            </a:r>
            <a:endParaRPr lang="en-US" sz="1200" dirty="0"/>
          </a:p>
        </p:txBody>
      </p:sp>
      <p:sp>
        <p:nvSpPr>
          <p:cNvPr id="10" name="Shape 7"/>
          <p:cNvSpPr/>
          <p:nvPr/>
        </p:nvSpPr>
        <p:spPr>
          <a:xfrm>
            <a:off x="7396493" y="1875433"/>
            <a:ext cx="1259814" cy="457200"/>
          </a:xfrm>
          <a:prstGeom prst="roundRect">
            <a:avLst>
              <a:gd name="adj" fmla="val 13889"/>
            </a:avLst>
          </a:prstGeom>
          <a:solidFill>
            <a:srgbClr val="647556"/>
          </a:solidFill>
          <a:ln/>
        </p:spPr>
      </p:sp>
      <p:sp>
        <p:nvSpPr>
          <p:cNvPr id="11" name="Text 8"/>
          <p:cNvSpPr/>
          <p:nvPr/>
        </p:nvSpPr>
        <p:spPr>
          <a:xfrm>
            <a:off x="7396493" y="2383433"/>
            <a:ext cx="13106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1522"/>
                </a:solidFill>
                <a:latin typeface="DM Sans" pitchFamily="34" charset="0"/>
                <a:ea typeface="DM Sans" pitchFamily="34" charset="-122"/>
                <a:cs typeface="DM Sans" pitchFamily="34" charset="-120"/>
              </a:rPr>
              <a:t>Sage #647556</a:t>
            </a:r>
            <a:endParaRPr lang="en-US" sz="1200" dirty="0"/>
          </a:p>
        </p:txBody>
      </p:sp>
      <p:sp>
        <p:nvSpPr>
          <p:cNvPr id="12" name="Shape 9"/>
          <p:cNvSpPr/>
          <p:nvPr/>
        </p:nvSpPr>
        <p:spPr>
          <a:xfrm>
            <a:off x="8757907" y="1875433"/>
            <a:ext cx="1259880" cy="457200"/>
          </a:xfrm>
          <a:prstGeom prst="roundRect">
            <a:avLst>
              <a:gd name="adj" fmla="val 13889"/>
            </a:avLst>
          </a:prstGeom>
          <a:solidFill>
            <a:srgbClr val="8A6A48"/>
          </a:solidFill>
          <a:ln/>
        </p:spPr>
      </p:sp>
      <p:sp>
        <p:nvSpPr>
          <p:cNvPr id="13" name="Text 10"/>
          <p:cNvSpPr/>
          <p:nvPr/>
        </p:nvSpPr>
        <p:spPr>
          <a:xfrm>
            <a:off x="8757907" y="2383433"/>
            <a:ext cx="1310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1522"/>
                </a:solidFill>
                <a:latin typeface="DM Sans" pitchFamily="34" charset="0"/>
                <a:ea typeface="DM Sans" pitchFamily="34" charset="-122"/>
                <a:cs typeface="DM Sans" pitchFamily="34" charset="-120"/>
              </a:rPr>
              <a:t>Tan #8A6A48</a:t>
            </a:r>
            <a:endParaRPr lang="en-US" sz="1200" dirty="0"/>
          </a:p>
        </p:txBody>
      </p:sp>
      <p:sp>
        <p:nvSpPr>
          <p:cNvPr id="14" name="Shape 11"/>
          <p:cNvSpPr/>
          <p:nvPr/>
        </p:nvSpPr>
        <p:spPr>
          <a:xfrm>
            <a:off x="10122562" y="1878608"/>
            <a:ext cx="1253464" cy="450850"/>
          </a:xfrm>
          <a:prstGeom prst="roundRect">
            <a:avLst>
              <a:gd name="adj" fmla="val 13380"/>
            </a:avLst>
          </a:prstGeom>
          <a:solidFill>
            <a:srgbClr val="FFFDF8"/>
          </a:solidFill>
          <a:ln w="6350">
            <a:solidFill>
              <a:srgbClr val="D8CFC0"/>
            </a:solidFill>
            <a:prstDash val="solid"/>
          </a:ln>
        </p:spPr>
      </p:sp>
      <p:sp>
        <p:nvSpPr>
          <p:cNvPr id="15" name="Text 12"/>
          <p:cNvSpPr/>
          <p:nvPr/>
        </p:nvSpPr>
        <p:spPr>
          <a:xfrm>
            <a:off x="10119387" y="2383433"/>
            <a:ext cx="13106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1522"/>
                </a:solidFill>
                <a:latin typeface="DM Sans" pitchFamily="34" charset="0"/>
                <a:ea typeface="DM Sans" pitchFamily="34" charset="-122"/>
                <a:cs typeface="DM Sans" pitchFamily="34" charset="-120"/>
              </a:rPr>
              <a:t>Cream #FFFDF8</a:t>
            </a:r>
            <a:endParaRPr lang="en-US" sz="1200" dirty="0"/>
          </a:p>
        </p:txBody>
      </p:sp>
      <p:sp>
        <p:nvSpPr>
          <p:cNvPr id="16" name="Text 13"/>
          <p:cNvSpPr/>
          <p:nvPr/>
        </p:nvSpPr>
        <p:spPr>
          <a:xfrm>
            <a:off x="4673600" y="2774553"/>
            <a:ext cx="69067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Voice</a:t>
            </a:r>
            <a:endParaRPr lang="en-US" sz="1500" dirty="0"/>
          </a:p>
        </p:txBody>
      </p:sp>
      <p:sp>
        <p:nvSpPr>
          <p:cNvPr id="17" name="Text 14"/>
          <p:cNvSpPr/>
          <p:nvPr/>
        </p:nvSpPr>
        <p:spPr>
          <a:xfrm>
            <a:off x="4673600" y="3066653"/>
            <a:ext cx="6906768" cy="1016000"/>
          </a:xfrm>
          <a:prstGeom prst="rect">
            <a:avLst/>
          </a:prstGeom>
          <a:noFill/>
          <a:ln/>
        </p:spPr>
        <p:txBody>
          <a:bodyPr wrap="square" lIns="0" tIns="0" rIns="0" bIns="0" rtlCol="0" anchor="t">
            <a:normAutofit/>
          </a:bodyPr>
          <a:lstStyle/>
          <a:p>
            <a:pPr algn="l" marL="198120" indent="-162306">
              <a:lnSpc>
                <a:spcPts val="1950"/>
              </a:lnSpc>
              <a:buSzPct val="100000"/>
              <a:buChar char="•"/>
            </a:pPr>
            <a:r>
              <a:rPr lang="en-US" sz="1300" dirty="0">
                <a:solidFill>
                  <a:srgbClr val="5C4550"/>
                </a:solidFill>
                <a:latin typeface="DM Sans" pitchFamily="34" charset="0"/>
                <a:ea typeface="DM Sans" pitchFamily="34" charset="-122"/>
                <a:cs typeface="DM Sans" pitchFamily="34" charset="-120"/>
              </a:rPr>
              <a:t>Warm and direct, never clinical-cold or salesy</a:t>
            </a:r>
            <a:endParaRPr lang="en-US" sz="1300" dirty="0"/>
          </a:p>
          <a:p>
            <a:pPr algn="l" marL="198120" indent="-162306">
              <a:lnSpc>
                <a:spcPts val="1950"/>
              </a:lnSpc>
              <a:buSzPct val="100000"/>
              <a:buChar char="•"/>
            </a:pPr>
            <a:r>
              <a:rPr lang="en-US" sz="1300" dirty="0">
                <a:solidFill>
                  <a:srgbClr val="5C4550"/>
                </a:solidFill>
                <a:latin typeface="DM Sans" pitchFamily="34" charset="0"/>
                <a:ea typeface="DM Sans" pitchFamily="34" charset="-122"/>
                <a:cs typeface="DM Sans" pitchFamily="34" charset="-120"/>
              </a:rPr>
              <a:t>Speaks to her, and to the family member calling for her</a:t>
            </a:r>
            <a:endParaRPr lang="en-US" sz="1300" dirty="0"/>
          </a:p>
          <a:p>
            <a:pPr algn="l" marL="198120" indent="-162306">
              <a:lnSpc>
                <a:spcPts val="1950"/>
              </a:lnSpc>
              <a:buSzPct val="100000"/>
              <a:buChar char="•"/>
            </a:pPr>
            <a:r>
              <a:rPr lang="en-US" sz="1300" dirty="0">
                <a:solidFill>
                  <a:srgbClr val="5C4550"/>
                </a:solidFill>
                <a:latin typeface="DM Sans" pitchFamily="34" charset="0"/>
                <a:ea typeface="DM Sans" pitchFamily="34" charset="-122"/>
                <a:cs typeface="DM Sans" pitchFamily="34" charset="-120"/>
              </a:rPr>
              <a:t>Hope with credibility: physician-led, measured outcomes</a:t>
            </a:r>
            <a:endParaRPr lang="en-US" sz="1300" dirty="0"/>
          </a:p>
          <a:p>
            <a:pPr algn="l" marL="198120" indent="-162306">
              <a:lnSpc>
                <a:spcPts val="1950"/>
              </a:lnSpc>
              <a:buSzPct val="100000"/>
              <a:buChar char="•"/>
            </a:pPr>
            <a:r>
              <a:rPr lang="en-US" sz="1300" dirty="0">
                <a:solidFill>
                  <a:srgbClr val="5C4550"/>
                </a:solidFill>
                <a:latin typeface="DM Sans" pitchFamily="34" charset="0"/>
                <a:ea typeface="DM Sans" pitchFamily="34" charset="-122"/>
                <a:cs typeface="DM Sans" pitchFamily="34" charset="-120"/>
              </a:rPr>
              <a:t>No shame words, no crisis stock photos, no promises of cure</a:t>
            </a:r>
            <a:endParaRPr lang="en-US" sz="1300" dirty="0"/>
          </a:p>
        </p:txBody>
      </p:sp>
      <p:sp>
        <p:nvSpPr>
          <p:cNvPr id="18" name="Text 1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Type: Cormorant Garamond for headlines, DM Sans for text</a:t>
            </a:r>
            <a:endParaRPr lang="en-US" sz="1200" dirty="0"/>
          </a:p>
        </p:txBody>
      </p:sp>
      <p:sp>
        <p:nvSpPr>
          <p:cNvPr id="19" name="Text 1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03</a:t>
            </a:r>
            <a:endParaRPr lang="en-US" sz="1200" dirty="0"/>
          </a:p>
        </p:txBody>
      </p:sp>
      <p:sp>
        <p:nvSpPr>
          <p:cNvPr id="20" name="Shape 17"/>
          <p:cNvSpPr/>
          <p:nvPr/>
        </p:nvSpPr>
        <p:spPr>
          <a:xfrm>
            <a:off x="0" y="6781800"/>
            <a:ext cx="12192000" cy="76200"/>
          </a:xfrm>
          <a:prstGeom prst="rect">
            <a:avLst/>
          </a:prstGeom>
          <a:solidFill>
            <a:srgbClr val="4A1A33"/>
          </a:solidFill>
          <a:ln/>
        </p:spPr>
      </p:sp>
      <p:pic>
        <p:nvPicPr>
          <p:cNvPr id="21" name="Image 1" descr="EverBloom emblem">    </p:cNvPr>
          <p:cNvPicPr>
            <a:picLocks noChangeAspect="1"/>
          </p:cNvPicPr>
          <p:nvPr/>
        </p:nvPicPr>
        <p:blipFill>
          <a:blip r:embed="rId2"/>
          <a:srcRect l="0" r="0" t="-78" b="-78"/>
          <a:stretch/>
        </p:blipFill>
        <p:spPr>
          <a:xfrm>
            <a:off x="10363200" y="254000"/>
            <a:ext cx="1016000" cy="819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THE WEBSITE</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Built to turn a search into a phone call</a:t>
            </a:r>
            <a:endParaRPr lang="en-US" sz="3600" dirty="0"/>
          </a:p>
        </p:txBody>
      </p:sp>
      <p:sp>
        <p:nvSpPr>
          <p:cNvPr id="4" name="Shape 2"/>
          <p:cNvSpPr/>
          <p:nvPr/>
        </p:nvSpPr>
        <p:spPr>
          <a:xfrm>
            <a:off x="812800" y="1875433"/>
            <a:ext cx="3420533" cy="1046361"/>
          </a:xfrm>
          <a:prstGeom prst="roundRect">
            <a:avLst>
              <a:gd name="adj" fmla="val 8496"/>
            </a:avLst>
          </a:prstGeom>
          <a:solidFill>
            <a:srgbClr val="4A1A33"/>
          </a:solidFill>
          <a:ln/>
        </p:spPr>
      </p:sp>
      <p:sp>
        <p:nvSpPr>
          <p:cNvPr id="5" name="Text 3"/>
          <p:cNvSpPr/>
          <p:nvPr/>
        </p:nvSpPr>
        <p:spPr>
          <a:xfrm>
            <a:off x="1016000" y="2053233"/>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AF6F0"/>
                </a:solidFill>
                <a:latin typeface="DM Sans" pitchFamily="34" charset="0"/>
                <a:ea typeface="DM Sans" pitchFamily="34" charset="-122"/>
                <a:cs typeface="DM Sans" pitchFamily="34" charset="-120"/>
              </a:rPr>
              <a:t>Programs</a:t>
            </a:r>
            <a:endParaRPr lang="en-US" sz="1400" dirty="0"/>
          </a:p>
        </p:txBody>
      </p:sp>
      <p:sp>
        <p:nvSpPr>
          <p:cNvPr id="6" name="Text 4"/>
          <p:cNvSpPr/>
          <p:nvPr/>
        </p:nvSpPr>
        <p:spPr>
          <a:xfrm>
            <a:off x="1016000" y="2317353"/>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DCDD"/>
                </a:solidFill>
                <a:latin typeface="DM Sans" pitchFamily="34" charset="0"/>
                <a:ea typeface="DM Sans" pitchFamily="34" charset="-122"/>
                <a:cs typeface="DM Sans" pitchFamily="34" charset="-120"/>
              </a:rPr>
              <a:t>Residential, PHP, IOP, outpatient: one page each, what a day looks like</a:t>
            </a:r>
            <a:endParaRPr lang="en-US" sz="1200" dirty="0"/>
          </a:p>
        </p:txBody>
      </p:sp>
      <p:sp>
        <p:nvSpPr>
          <p:cNvPr id="7" name="Shape 5"/>
          <p:cNvSpPr/>
          <p:nvPr/>
        </p:nvSpPr>
        <p:spPr>
          <a:xfrm>
            <a:off x="4385733" y="1875433"/>
            <a:ext cx="3420533" cy="1046361"/>
          </a:xfrm>
          <a:prstGeom prst="roundRect">
            <a:avLst>
              <a:gd name="adj" fmla="val 8496"/>
            </a:avLst>
          </a:prstGeom>
          <a:solidFill>
            <a:srgbClr val="FFFDF8"/>
          </a:solidFill>
          <a:ln/>
        </p:spPr>
      </p:sp>
      <p:sp>
        <p:nvSpPr>
          <p:cNvPr id="8" name="Text 6"/>
          <p:cNvSpPr/>
          <p:nvPr/>
        </p:nvSpPr>
        <p:spPr>
          <a:xfrm>
            <a:off x="4588933" y="2053233"/>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What we treat</a:t>
            </a:r>
            <a:endParaRPr lang="en-US" sz="1400" dirty="0"/>
          </a:p>
        </p:txBody>
      </p:sp>
      <p:sp>
        <p:nvSpPr>
          <p:cNvPr id="9" name="Text 7"/>
          <p:cNvSpPr/>
          <p:nvPr/>
        </p:nvSpPr>
        <p:spPr>
          <a:xfrm>
            <a:off x="4588933" y="2317353"/>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Depression, anxiety, trauma, postpartum, plus OCD and eating disorder track pages</a:t>
            </a:r>
            <a:endParaRPr lang="en-US" sz="1200" dirty="0"/>
          </a:p>
        </p:txBody>
      </p:sp>
      <p:sp>
        <p:nvSpPr>
          <p:cNvPr id="10" name="Shape 8"/>
          <p:cNvSpPr/>
          <p:nvPr/>
        </p:nvSpPr>
        <p:spPr>
          <a:xfrm>
            <a:off x="7958667" y="1875433"/>
            <a:ext cx="3420533" cy="1046361"/>
          </a:xfrm>
          <a:prstGeom prst="roundRect">
            <a:avLst>
              <a:gd name="adj" fmla="val 8496"/>
            </a:avLst>
          </a:prstGeom>
          <a:solidFill>
            <a:srgbClr val="FFFDF8"/>
          </a:solidFill>
          <a:ln/>
        </p:spPr>
      </p:sp>
      <p:sp>
        <p:nvSpPr>
          <p:cNvPr id="11" name="Text 9"/>
          <p:cNvSpPr/>
          <p:nvPr/>
        </p:nvSpPr>
        <p:spPr>
          <a:xfrm>
            <a:off x="8161867" y="2053233"/>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Insurance</a:t>
            </a:r>
            <a:endParaRPr lang="en-US" sz="1400" dirty="0"/>
          </a:p>
        </p:txBody>
      </p:sp>
      <p:sp>
        <p:nvSpPr>
          <p:cNvPr id="12" name="Text 10"/>
          <p:cNvSpPr/>
          <p:nvPr/>
        </p:nvSpPr>
        <p:spPr>
          <a:xfrm>
            <a:off x="8161867" y="2317353"/>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Plans accepted and a free benefits check, answered same day</a:t>
            </a:r>
            <a:endParaRPr lang="en-US" sz="1200" dirty="0"/>
          </a:p>
        </p:txBody>
      </p:sp>
      <p:sp>
        <p:nvSpPr>
          <p:cNvPr id="13" name="Shape 11"/>
          <p:cNvSpPr/>
          <p:nvPr/>
        </p:nvSpPr>
        <p:spPr>
          <a:xfrm>
            <a:off x="812800" y="3074194"/>
            <a:ext cx="3420533" cy="1046361"/>
          </a:xfrm>
          <a:prstGeom prst="roundRect">
            <a:avLst>
              <a:gd name="adj" fmla="val 8496"/>
            </a:avLst>
          </a:prstGeom>
          <a:solidFill>
            <a:srgbClr val="FFFDF8"/>
          </a:solidFill>
          <a:ln/>
        </p:spPr>
      </p:sp>
      <p:sp>
        <p:nvSpPr>
          <p:cNvPr id="14" name="Text 12"/>
          <p:cNvSpPr/>
          <p:nvPr/>
        </p:nvSpPr>
        <p:spPr>
          <a:xfrm>
            <a:off x="1016000" y="3251994"/>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Admissions</a:t>
            </a:r>
            <a:endParaRPr lang="en-US" sz="1400" dirty="0"/>
          </a:p>
        </p:txBody>
      </p:sp>
      <p:sp>
        <p:nvSpPr>
          <p:cNvPr id="15" name="Text 13"/>
          <p:cNvSpPr/>
          <p:nvPr/>
        </p:nvSpPr>
        <p:spPr>
          <a:xfrm>
            <a:off x="1016000" y="3516114"/>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What to expect, what to pack, the first 72 hours</a:t>
            </a:r>
            <a:endParaRPr lang="en-US" sz="1200" dirty="0"/>
          </a:p>
        </p:txBody>
      </p:sp>
      <p:sp>
        <p:nvSpPr>
          <p:cNvPr id="16" name="Shape 14"/>
          <p:cNvSpPr/>
          <p:nvPr/>
        </p:nvSpPr>
        <p:spPr>
          <a:xfrm>
            <a:off x="4385733" y="3074194"/>
            <a:ext cx="3420533" cy="1046361"/>
          </a:xfrm>
          <a:prstGeom prst="roundRect">
            <a:avLst>
              <a:gd name="adj" fmla="val 8496"/>
            </a:avLst>
          </a:prstGeom>
          <a:solidFill>
            <a:srgbClr val="FFFDF8"/>
          </a:solidFill>
          <a:ln/>
        </p:spPr>
      </p:sp>
      <p:sp>
        <p:nvSpPr>
          <p:cNvPr id="17" name="Text 15"/>
          <p:cNvSpPr/>
          <p:nvPr/>
        </p:nvSpPr>
        <p:spPr>
          <a:xfrm>
            <a:off x="4588933" y="3251994"/>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For professionals</a:t>
            </a:r>
            <a:endParaRPr lang="en-US" sz="1400" dirty="0"/>
          </a:p>
        </p:txBody>
      </p:sp>
      <p:sp>
        <p:nvSpPr>
          <p:cNvPr id="18" name="Text 16"/>
          <p:cNvSpPr/>
          <p:nvPr/>
        </p:nvSpPr>
        <p:spPr>
          <a:xfrm>
            <a:off x="4588933" y="3516114"/>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Secure referral form, clinical criteria, a direct line</a:t>
            </a:r>
            <a:endParaRPr lang="en-US" sz="1200" dirty="0"/>
          </a:p>
        </p:txBody>
      </p:sp>
      <p:sp>
        <p:nvSpPr>
          <p:cNvPr id="19" name="Shape 17"/>
          <p:cNvSpPr/>
          <p:nvPr/>
        </p:nvSpPr>
        <p:spPr>
          <a:xfrm>
            <a:off x="7958667" y="3074194"/>
            <a:ext cx="3420533" cy="1046361"/>
          </a:xfrm>
          <a:prstGeom prst="roundRect">
            <a:avLst>
              <a:gd name="adj" fmla="val 8496"/>
            </a:avLst>
          </a:prstGeom>
          <a:solidFill>
            <a:srgbClr val="FFFDF8"/>
          </a:solidFill>
          <a:ln/>
        </p:spPr>
      </p:sp>
      <p:sp>
        <p:nvSpPr>
          <p:cNvPr id="20" name="Text 18"/>
          <p:cNvSpPr/>
          <p:nvPr/>
        </p:nvSpPr>
        <p:spPr>
          <a:xfrm>
            <a:off x="8161867" y="3251994"/>
            <a:ext cx="31045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About and trust</a:t>
            </a:r>
            <a:endParaRPr lang="en-US" sz="1400" dirty="0"/>
          </a:p>
        </p:txBody>
      </p:sp>
      <p:sp>
        <p:nvSpPr>
          <p:cNvPr id="21" name="Text 19"/>
          <p:cNvSpPr/>
          <p:nvPr/>
        </p:nvSpPr>
        <p:spPr>
          <a:xfrm>
            <a:off x="8161867" y="3516114"/>
            <a:ext cx="31045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Leadership, licensure, accreditation, outcomes, reviews</a:t>
            </a:r>
            <a:endParaRPr lang="en-US" sz="1200" dirty="0"/>
          </a:p>
        </p:txBody>
      </p:sp>
      <p:sp>
        <p:nvSpPr>
          <p:cNvPr id="22" name="Text 20"/>
          <p:cNvSpPr/>
          <p:nvPr/>
        </p:nvSpPr>
        <p:spPr>
          <a:xfrm>
            <a:off x="812800" y="4374555"/>
            <a:ext cx="102031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1A33"/>
                </a:solidFill>
                <a:latin typeface="DM Sans" pitchFamily="34" charset="0"/>
                <a:ea typeface="DM Sans" pitchFamily="34" charset="-122"/>
                <a:cs typeface="DM Sans" pitchFamily="34" charset="-120"/>
              </a:rPr>
              <a:t>Every page:</a:t>
            </a:r>
            <a:r>
              <a:rPr lang="en-US" sz="1400" dirty="0">
                <a:solidFill>
                  <a:srgbClr val="4A1A33"/>
                </a:solidFill>
                <a:latin typeface="DM Sans" pitchFamily="34" charset="0"/>
                <a:ea typeface="DM Sans" pitchFamily="34" charset="-122"/>
                <a:cs typeface="DM Sans" pitchFamily="34" charset="-120"/>
              </a:rPr>
              <a:t> tap-to-call in the header, fast on a phone, HIPAA-compliant forms, and no ad pixels on pages where people share health details.</a:t>
            </a:r>
            <a:endParaRPr lang="en-US" sz="1400" dirty="0"/>
          </a:p>
        </p:txBody>
      </p:sp>
      <p:sp>
        <p:nvSpPr>
          <p:cNvPr id="23"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Built and maintained in-house by Ashlee and the outreach and digital marketing manager; live by Month 4</a:t>
            </a:r>
            <a:endParaRPr lang="en-US" sz="1200" dirty="0"/>
          </a:p>
        </p:txBody>
      </p:sp>
      <p:sp>
        <p:nvSpPr>
          <p:cNvPr id="24" name="Text 2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04</a:t>
            </a:r>
            <a:endParaRPr lang="en-US" sz="1200" dirty="0"/>
          </a:p>
        </p:txBody>
      </p:sp>
      <p:sp>
        <p:nvSpPr>
          <p:cNvPr id="25" name="Shape 23"/>
          <p:cNvSpPr/>
          <p:nvPr/>
        </p:nvSpPr>
        <p:spPr>
          <a:xfrm>
            <a:off x="0" y="6781800"/>
            <a:ext cx="12192000" cy="76200"/>
          </a:xfrm>
          <a:prstGeom prst="rect">
            <a:avLst/>
          </a:prstGeom>
          <a:solidFill>
            <a:srgbClr val="4A1A33"/>
          </a:solidFill>
          <a:ln/>
        </p:spPr>
      </p:sp>
      <p:pic>
        <p:nvPicPr>
          <p:cNvPr id="26"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SEARCH AND SEO</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Own the searches women and families actually make</a:t>
            </a:r>
            <a:endParaRPr lang="en-US" sz="3600" dirty="0"/>
          </a:p>
        </p:txBody>
      </p:sp>
      <p:sp>
        <p:nvSpPr>
          <p:cNvPr id="4" name="Shape 2"/>
          <p:cNvSpPr/>
          <p:nvPr/>
        </p:nvSpPr>
        <p:spPr>
          <a:xfrm>
            <a:off x="812800" y="1900833"/>
            <a:ext cx="5194300" cy="1061641"/>
          </a:xfrm>
          <a:prstGeom prst="roundRect">
            <a:avLst>
              <a:gd name="adj" fmla="val 7178"/>
            </a:avLst>
          </a:prstGeom>
          <a:solidFill>
            <a:srgbClr val="FFFDF8"/>
          </a:solidFill>
          <a:ln/>
        </p:spPr>
      </p:sp>
      <p:sp>
        <p:nvSpPr>
          <p:cNvPr id="5" name="Shape 3"/>
          <p:cNvSpPr/>
          <p:nvPr/>
        </p:nvSpPr>
        <p:spPr>
          <a:xfrm>
            <a:off x="812800" y="190083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4A1A33"/>
          </a:solidFill>
          <a:ln/>
        </p:spPr>
      </p:sp>
      <p:sp>
        <p:nvSpPr>
          <p:cNvPr id="6" name="Text 4"/>
          <p:cNvSpPr/>
          <p:nvPr/>
        </p:nvSpPr>
        <p:spPr>
          <a:xfrm>
            <a:off x="1054100" y="207863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Local search</a:t>
            </a:r>
            <a:endParaRPr lang="en-US" sz="1500" dirty="0"/>
          </a:p>
        </p:txBody>
      </p:sp>
      <p:sp>
        <p:nvSpPr>
          <p:cNvPr id="7" name="Text 5"/>
          <p:cNvSpPr/>
          <p:nvPr/>
        </p:nvSpPr>
        <p:spPr>
          <a:xfrm>
            <a:off x="1054100" y="235803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Google Business Profile, map listing, reviews answered within a day, consistent name and address everywhere</a:t>
            </a:r>
            <a:endParaRPr lang="en-US" sz="1200" dirty="0"/>
          </a:p>
        </p:txBody>
      </p:sp>
      <p:sp>
        <p:nvSpPr>
          <p:cNvPr id="8" name="Shape 6"/>
          <p:cNvSpPr/>
          <p:nvPr/>
        </p:nvSpPr>
        <p:spPr>
          <a:xfrm>
            <a:off x="6184900" y="1900833"/>
            <a:ext cx="5194300" cy="1061641"/>
          </a:xfrm>
          <a:prstGeom prst="roundRect">
            <a:avLst>
              <a:gd name="adj" fmla="val 7178"/>
            </a:avLst>
          </a:prstGeom>
          <a:solidFill>
            <a:srgbClr val="FFFDF8"/>
          </a:solidFill>
          <a:ln/>
        </p:spPr>
      </p:sp>
      <p:sp>
        <p:nvSpPr>
          <p:cNvPr id="9" name="Shape 7"/>
          <p:cNvSpPr/>
          <p:nvPr/>
        </p:nvSpPr>
        <p:spPr>
          <a:xfrm>
            <a:off x="6184900" y="190083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647556"/>
          </a:solidFill>
          <a:ln/>
        </p:spPr>
      </p:sp>
      <p:sp>
        <p:nvSpPr>
          <p:cNvPr id="10" name="Text 8"/>
          <p:cNvSpPr/>
          <p:nvPr/>
        </p:nvSpPr>
        <p:spPr>
          <a:xfrm>
            <a:off x="6426200" y="207863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Condition and program pages</a:t>
            </a:r>
            <a:endParaRPr lang="en-US" sz="1500" dirty="0"/>
          </a:p>
        </p:txBody>
      </p:sp>
      <p:sp>
        <p:nvSpPr>
          <p:cNvPr id="11" name="Text 9"/>
          <p:cNvSpPr/>
          <p:nvPr/>
        </p:nvSpPr>
        <p:spPr>
          <a:xfrm>
            <a:off x="6426200" y="235803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"Women's residential OCD treatment in Florida" and similar searches, one strong page each</a:t>
            </a:r>
            <a:endParaRPr lang="en-US" sz="1200" dirty="0"/>
          </a:p>
        </p:txBody>
      </p:sp>
      <p:sp>
        <p:nvSpPr>
          <p:cNvPr id="12" name="Shape 10"/>
          <p:cNvSpPr/>
          <p:nvPr/>
        </p:nvSpPr>
        <p:spPr>
          <a:xfrm>
            <a:off x="812800" y="3140273"/>
            <a:ext cx="5194300" cy="1061641"/>
          </a:xfrm>
          <a:prstGeom prst="roundRect">
            <a:avLst>
              <a:gd name="adj" fmla="val 7178"/>
            </a:avLst>
          </a:prstGeom>
          <a:solidFill>
            <a:srgbClr val="FFFDF8"/>
          </a:solidFill>
          <a:ln/>
        </p:spPr>
      </p:sp>
      <p:sp>
        <p:nvSpPr>
          <p:cNvPr id="13" name="Shape 11"/>
          <p:cNvSpPr/>
          <p:nvPr/>
        </p:nvSpPr>
        <p:spPr>
          <a:xfrm>
            <a:off x="812800" y="314027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647556"/>
          </a:solidFill>
          <a:ln/>
        </p:spPr>
      </p:sp>
      <p:sp>
        <p:nvSpPr>
          <p:cNvPr id="14" name="Text 12"/>
          <p:cNvSpPr/>
          <p:nvPr/>
        </p:nvSpPr>
        <p:spPr>
          <a:xfrm>
            <a:off x="1054100" y="331807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Helpful content, weekly</a:t>
            </a:r>
            <a:endParaRPr lang="en-US" sz="1500" dirty="0"/>
          </a:p>
        </p:txBody>
      </p:sp>
      <p:sp>
        <p:nvSpPr>
          <p:cNvPr id="15" name="Text 13"/>
          <p:cNvSpPr/>
          <p:nvPr/>
        </p:nvSpPr>
        <p:spPr>
          <a:xfrm>
            <a:off x="1054100" y="359747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Clinician-reviewed articles on postpartum, trauma, burnout and when outpatient isn't enough</a:t>
            </a:r>
            <a:endParaRPr lang="en-US" sz="1200" dirty="0"/>
          </a:p>
        </p:txBody>
      </p:sp>
      <p:sp>
        <p:nvSpPr>
          <p:cNvPr id="16" name="Shape 14"/>
          <p:cNvSpPr/>
          <p:nvPr/>
        </p:nvSpPr>
        <p:spPr>
          <a:xfrm>
            <a:off x="6184900" y="3140273"/>
            <a:ext cx="5194300" cy="1061641"/>
          </a:xfrm>
          <a:prstGeom prst="roundRect">
            <a:avLst>
              <a:gd name="adj" fmla="val 7178"/>
            </a:avLst>
          </a:prstGeom>
          <a:solidFill>
            <a:srgbClr val="FFFDF8"/>
          </a:solidFill>
          <a:ln/>
        </p:spPr>
      </p:sp>
      <p:sp>
        <p:nvSpPr>
          <p:cNvPr id="17" name="Shape 15"/>
          <p:cNvSpPr/>
          <p:nvPr/>
        </p:nvSpPr>
        <p:spPr>
          <a:xfrm>
            <a:off x="6184900" y="314027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D69A93"/>
          </a:solidFill>
          <a:ln/>
        </p:spPr>
      </p:sp>
      <p:sp>
        <p:nvSpPr>
          <p:cNvPr id="18" name="Text 16"/>
          <p:cNvSpPr/>
          <p:nvPr/>
        </p:nvSpPr>
        <p:spPr>
          <a:xfrm>
            <a:off x="6426200" y="331807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Directories</a:t>
            </a:r>
            <a:endParaRPr lang="en-US" sz="1500" dirty="0"/>
          </a:p>
        </p:txBody>
      </p:sp>
      <p:sp>
        <p:nvSpPr>
          <p:cNvPr id="19" name="Text 17"/>
          <p:cNvSpPr/>
          <p:nvPr/>
        </p:nvSpPr>
        <p:spPr>
          <a:xfrm>
            <a:off x="6426200" y="359747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Psychology Today, SAMHSA's FindTreatment.gov, insurer directories as each contract lands</a:t>
            </a:r>
            <a:endParaRPr lang="en-US" sz="1200" dirty="0"/>
          </a:p>
        </p:txBody>
      </p:sp>
      <p:sp>
        <p:nvSpPr>
          <p:cNvPr id="20" name="Text 18"/>
          <p:cNvSpPr/>
          <p:nvPr/>
        </p:nvSpPr>
        <p:spPr>
          <a:xfrm>
            <a:off x="812800" y="4481314"/>
            <a:ext cx="102031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1A33"/>
                </a:solidFill>
                <a:latin typeface="DM Sans" pitchFamily="34" charset="0"/>
                <a:ea typeface="DM Sans" pitchFamily="34" charset="-122"/>
                <a:cs typeface="DM Sans" pitchFamily="34" charset="-120"/>
              </a:rPr>
              <a:t>SEO compounds slowly,</a:t>
            </a:r>
            <a:r>
              <a:rPr lang="en-US" sz="1400" dirty="0">
                <a:solidFill>
                  <a:srgbClr val="4A1A33"/>
                </a:solidFill>
                <a:latin typeface="DM Sans" pitchFamily="34" charset="0"/>
                <a:ea typeface="DM Sans" pitchFamily="34" charset="-122"/>
                <a:cs typeface="DM Sans" pitchFamily="34" charset="-120"/>
              </a:rPr>
              <a:t> so it starts in the first months of the build. By opening, paid search carries the load; by Year 2, organic search should carry more of it at no media cost.</a:t>
            </a:r>
            <a:endParaRPr lang="en-US" sz="1400" dirty="0"/>
          </a:p>
        </p:txBody>
      </p:sp>
      <p:sp>
        <p:nvSpPr>
          <p:cNvPr id="21"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Content by Ashlee, SEO by the outreach and digital marketing manager, clinical review of every health article</a:t>
            </a:r>
            <a:endParaRPr lang="en-US" sz="1200" dirty="0"/>
          </a:p>
        </p:txBody>
      </p:sp>
      <p:sp>
        <p:nvSpPr>
          <p:cNvPr id="22" name="Text 2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05</a:t>
            </a:r>
            <a:endParaRPr lang="en-US" sz="1200" dirty="0"/>
          </a:p>
        </p:txBody>
      </p:sp>
      <p:sp>
        <p:nvSpPr>
          <p:cNvPr id="23" name="Shape 21"/>
          <p:cNvSpPr/>
          <p:nvPr/>
        </p:nvSpPr>
        <p:spPr>
          <a:xfrm>
            <a:off x="0" y="6781800"/>
            <a:ext cx="12192000" cy="76200"/>
          </a:xfrm>
          <a:prstGeom prst="rect">
            <a:avLst/>
          </a:prstGeom>
          <a:solidFill>
            <a:srgbClr val="4A1A33"/>
          </a:solidFill>
          <a:ln/>
        </p:spPr>
      </p:sp>
      <p:pic>
        <p:nvPicPr>
          <p:cNvPr id="24"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PAID MEDIA</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$25K a month, weighted toward high-intent search</a:t>
            </a:r>
            <a:endParaRPr lang="en-US" sz="3600" dirty="0"/>
          </a:p>
        </p:txBody>
      </p:sp>
      <p:sp>
        <p:nvSpPr>
          <p:cNvPr id="4" name="Text 2"/>
          <p:cNvSpPr/>
          <p:nvPr/>
        </p:nvSpPr>
        <p:spPr>
          <a:xfrm>
            <a:off x="812800" y="1900833"/>
            <a:ext cx="23545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1522"/>
                </a:solidFill>
                <a:latin typeface="DM Sans" pitchFamily="34" charset="0"/>
                <a:ea typeface="DM Sans" pitchFamily="34" charset="-122"/>
                <a:cs typeface="DM Sans" pitchFamily="34" charset="-120"/>
              </a:rPr>
              <a:t>Google Search</a:t>
            </a:r>
            <a:endParaRPr lang="en-US" sz="1300" dirty="0"/>
          </a:p>
        </p:txBody>
      </p:sp>
      <p:sp>
        <p:nvSpPr>
          <p:cNvPr id="5" name="Shape 3"/>
          <p:cNvSpPr/>
          <p:nvPr/>
        </p:nvSpPr>
        <p:spPr>
          <a:xfrm>
            <a:off x="3225800" y="1902092"/>
            <a:ext cx="2667000" cy="228600"/>
          </a:xfrm>
          <a:prstGeom prst="roundRect">
            <a:avLst>
              <a:gd name="adj" fmla="val 11111"/>
            </a:avLst>
          </a:prstGeom>
          <a:solidFill>
            <a:srgbClr val="4A1A33"/>
          </a:solidFill>
          <a:ln/>
        </p:spPr>
      </p:sp>
      <p:sp>
        <p:nvSpPr>
          <p:cNvPr id="6" name="Text 4"/>
          <p:cNvSpPr/>
          <p:nvPr/>
        </p:nvSpPr>
        <p:spPr>
          <a:xfrm>
            <a:off x="6223000" y="1900833"/>
            <a:ext cx="812800"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E1522"/>
                </a:solidFill>
                <a:latin typeface="DM Sans" pitchFamily="34" charset="0"/>
                <a:ea typeface="DM Sans" pitchFamily="34" charset="-122"/>
                <a:cs typeface="DM Sans" pitchFamily="34" charset="-120"/>
              </a:rPr>
              <a:t>$15K</a:t>
            </a:r>
            <a:endParaRPr lang="en-US" sz="1300" dirty="0"/>
          </a:p>
        </p:txBody>
      </p:sp>
      <p:sp>
        <p:nvSpPr>
          <p:cNvPr id="7" name="Text 5"/>
          <p:cNvSpPr/>
          <p:nvPr/>
        </p:nvSpPr>
        <p:spPr>
          <a:xfrm>
            <a:off x="812800" y="2246247"/>
            <a:ext cx="23545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1522"/>
                </a:solidFill>
                <a:latin typeface="DM Sans" pitchFamily="34" charset="0"/>
                <a:ea typeface="DM Sans" pitchFamily="34" charset="-122"/>
                <a:cs typeface="DM Sans" pitchFamily="34" charset="-120"/>
              </a:rPr>
              <a:t>Meta (Facebook, Instagram)</a:t>
            </a:r>
            <a:endParaRPr lang="en-US" sz="1300" dirty="0"/>
          </a:p>
        </p:txBody>
      </p:sp>
      <p:sp>
        <p:nvSpPr>
          <p:cNvPr id="8" name="Shape 6"/>
          <p:cNvSpPr/>
          <p:nvPr/>
        </p:nvSpPr>
        <p:spPr>
          <a:xfrm>
            <a:off x="3225800" y="2247503"/>
            <a:ext cx="1066800" cy="228600"/>
          </a:xfrm>
          <a:prstGeom prst="roundRect">
            <a:avLst>
              <a:gd name="adj" fmla="val 11111"/>
            </a:avLst>
          </a:prstGeom>
          <a:solidFill>
            <a:srgbClr val="D69A93"/>
          </a:solidFill>
          <a:ln/>
        </p:spPr>
      </p:sp>
      <p:sp>
        <p:nvSpPr>
          <p:cNvPr id="9" name="Text 7"/>
          <p:cNvSpPr/>
          <p:nvPr/>
        </p:nvSpPr>
        <p:spPr>
          <a:xfrm>
            <a:off x="6223000" y="2246247"/>
            <a:ext cx="812800"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E1522"/>
                </a:solidFill>
                <a:latin typeface="DM Sans" pitchFamily="34" charset="0"/>
                <a:ea typeface="DM Sans" pitchFamily="34" charset="-122"/>
                <a:cs typeface="DM Sans" pitchFamily="34" charset="-120"/>
              </a:rPr>
              <a:t>$6K</a:t>
            </a:r>
            <a:endParaRPr lang="en-US" sz="1300" dirty="0"/>
          </a:p>
        </p:txBody>
      </p:sp>
      <p:sp>
        <p:nvSpPr>
          <p:cNvPr id="10" name="Text 8"/>
          <p:cNvSpPr/>
          <p:nvPr/>
        </p:nvSpPr>
        <p:spPr>
          <a:xfrm>
            <a:off x="812800" y="2591662"/>
            <a:ext cx="23545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1522"/>
                </a:solidFill>
                <a:latin typeface="DM Sans" pitchFamily="34" charset="0"/>
                <a:ea typeface="DM Sans" pitchFamily="34" charset="-122"/>
                <a:cs typeface="DM Sans" pitchFamily="34" charset="-120"/>
              </a:rPr>
              <a:t>Directories and listings</a:t>
            </a:r>
            <a:endParaRPr lang="en-US" sz="1300" dirty="0"/>
          </a:p>
        </p:txBody>
      </p:sp>
      <p:sp>
        <p:nvSpPr>
          <p:cNvPr id="11" name="Shape 9"/>
          <p:cNvSpPr/>
          <p:nvPr/>
        </p:nvSpPr>
        <p:spPr>
          <a:xfrm>
            <a:off x="3225800" y="2592918"/>
            <a:ext cx="355600" cy="228600"/>
          </a:xfrm>
          <a:prstGeom prst="roundRect">
            <a:avLst>
              <a:gd name="adj" fmla="val 11111"/>
            </a:avLst>
          </a:prstGeom>
          <a:solidFill>
            <a:srgbClr val="647556"/>
          </a:solidFill>
          <a:ln/>
        </p:spPr>
      </p:sp>
      <p:sp>
        <p:nvSpPr>
          <p:cNvPr id="12" name="Text 10"/>
          <p:cNvSpPr/>
          <p:nvPr/>
        </p:nvSpPr>
        <p:spPr>
          <a:xfrm>
            <a:off x="6223000" y="2591662"/>
            <a:ext cx="812800"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E1522"/>
                </a:solidFill>
                <a:latin typeface="DM Sans" pitchFamily="34" charset="0"/>
                <a:ea typeface="DM Sans" pitchFamily="34" charset="-122"/>
                <a:cs typeface="DM Sans" pitchFamily="34" charset="-120"/>
              </a:rPr>
              <a:t>$2K</a:t>
            </a:r>
            <a:endParaRPr lang="en-US" sz="1300" dirty="0"/>
          </a:p>
        </p:txBody>
      </p:sp>
      <p:sp>
        <p:nvSpPr>
          <p:cNvPr id="13" name="Text 11"/>
          <p:cNvSpPr/>
          <p:nvPr/>
        </p:nvSpPr>
        <p:spPr>
          <a:xfrm>
            <a:off x="812800" y="2937073"/>
            <a:ext cx="23545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1522"/>
                </a:solidFill>
                <a:latin typeface="DM Sans" pitchFamily="34" charset="0"/>
                <a:ea typeface="DM Sans" pitchFamily="34" charset="-122"/>
                <a:cs typeface="DM Sans" pitchFamily="34" charset="-120"/>
              </a:rPr>
              <a:t>Testing (YouTube, other)</a:t>
            </a:r>
            <a:endParaRPr lang="en-US" sz="1300" dirty="0"/>
          </a:p>
        </p:txBody>
      </p:sp>
      <p:sp>
        <p:nvSpPr>
          <p:cNvPr id="14" name="Shape 12"/>
          <p:cNvSpPr/>
          <p:nvPr/>
        </p:nvSpPr>
        <p:spPr>
          <a:xfrm>
            <a:off x="3225800" y="2938332"/>
            <a:ext cx="355600" cy="228600"/>
          </a:xfrm>
          <a:prstGeom prst="roundRect">
            <a:avLst>
              <a:gd name="adj" fmla="val 11111"/>
            </a:avLst>
          </a:prstGeom>
          <a:solidFill>
            <a:srgbClr val="B8C2A8"/>
          </a:solidFill>
          <a:ln/>
        </p:spPr>
      </p:sp>
      <p:sp>
        <p:nvSpPr>
          <p:cNvPr id="15" name="Text 13"/>
          <p:cNvSpPr/>
          <p:nvPr/>
        </p:nvSpPr>
        <p:spPr>
          <a:xfrm>
            <a:off x="6223000" y="2937073"/>
            <a:ext cx="812800"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E1522"/>
                </a:solidFill>
                <a:latin typeface="DM Sans" pitchFamily="34" charset="0"/>
                <a:ea typeface="DM Sans" pitchFamily="34" charset="-122"/>
                <a:cs typeface="DM Sans" pitchFamily="34" charset="-120"/>
              </a:rPr>
              <a:t>$2K</a:t>
            </a:r>
            <a:endParaRPr lang="en-US" sz="1300" dirty="0"/>
          </a:p>
        </p:txBody>
      </p:sp>
      <p:sp>
        <p:nvSpPr>
          <p:cNvPr id="16" name="Shape 14"/>
          <p:cNvSpPr/>
          <p:nvPr/>
        </p:nvSpPr>
        <p:spPr>
          <a:xfrm>
            <a:off x="7391400" y="1900833"/>
            <a:ext cx="3987800" cy="1020961"/>
          </a:xfrm>
          <a:prstGeom prst="roundRect">
            <a:avLst>
              <a:gd name="adj" fmla="val 8707"/>
            </a:avLst>
          </a:prstGeom>
          <a:solidFill>
            <a:srgbClr val="4A1A33"/>
          </a:solidFill>
          <a:ln/>
        </p:spPr>
      </p:sp>
      <p:sp>
        <p:nvSpPr>
          <p:cNvPr id="17" name="Text 15"/>
          <p:cNvSpPr/>
          <p:nvPr/>
        </p:nvSpPr>
        <p:spPr>
          <a:xfrm>
            <a:off x="7581900" y="2065933"/>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7B8B0"/>
                </a:solidFill>
                <a:latin typeface="DM Sans" pitchFamily="34" charset="0"/>
                <a:ea typeface="DM Sans" pitchFamily="34" charset="-122"/>
                <a:cs typeface="DM Sans" pitchFamily="34" charset="-120"/>
              </a:rPr>
              <a:t>WHY SEARCH FIRST</a:t>
            </a:r>
            <a:endParaRPr lang="en-US" sz="1200" dirty="0"/>
          </a:p>
        </p:txBody>
      </p:sp>
      <p:sp>
        <p:nvSpPr>
          <p:cNvPr id="18" name="Text 16"/>
          <p:cNvSpPr/>
          <p:nvPr/>
        </p:nvSpPr>
        <p:spPr>
          <a:xfrm>
            <a:off x="7581900" y="2330053"/>
            <a:ext cx="37150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DM Sans" pitchFamily="34" charset="0"/>
                <a:ea typeface="DM Sans" pitchFamily="34" charset="-122"/>
                <a:cs typeface="DM Sans" pitchFamily="34" charset="-120"/>
              </a:rPr>
              <a:t>People searching for treatment are ready to call. Meta builds awareness and reaches families.</a:t>
            </a:r>
            <a:endParaRPr lang="en-US" sz="1200" dirty="0"/>
          </a:p>
        </p:txBody>
      </p:sp>
      <p:sp>
        <p:nvSpPr>
          <p:cNvPr id="19" name="Shape 17"/>
          <p:cNvSpPr/>
          <p:nvPr/>
        </p:nvSpPr>
        <p:spPr>
          <a:xfrm>
            <a:off x="7391400" y="3048794"/>
            <a:ext cx="3987800" cy="1020961"/>
          </a:xfrm>
          <a:prstGeom prst="roundRect">
            <a:avLst>
              <a:gd name="adj" fmla="val 8707"/>
            </a:avLst>
          </a:prstGeom>
          <a:solidFill>
            <a:srgbClr val="FFFDF8"/>
          </a:solidFill>
          <a:ln/>
        </p:spPr>
      </p:sp>
      <p:sp>
        <p:nvSpPr>
          <p:cNvPr id="20" name="Text 18"/>
          <p:cNvSpPr/>
          <p:nvPr/>
        </p:nvSpPr>
        <p:spPr>
          <a:xfrm>
            <a:off x="7581900" y="3213894"/>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RUN IN-HOUSE</a:t>
            </a:r>
            <a:endParaRPr lang="en-US" sz="1200" dirty="0"/>
          </a:p>
        </p:txBody>
      </p:sp>
      <p:sp>
        <p:nvSpPr>
          <p:cNvPr id="21" name="Text 19"/>
          <p:cNvSpPr/>
          <p:nvPr/>
        </p:nvSpPr>
        <p:spPr>
          <a:xfrm>
            <a:off x="7581900" y="3478014"/>
            <a:ext cx="37150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No agency fee; budget moves weekly to whatever produces admissions.</a:t>
            </a:r>
            <a:endParaRPr lang="en-US" sz="1200" dirty="0"/>
          </a:p>
        </p:txBody>
      </p:sp>
      <p:sp>
        <p:nvSpPr>
          <p:cNvPr id="22"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Planning split of the once-open budget; $10K a month from Month 4 to build pre-launch awareness</a:t>
            </a:r>
            <a:endParaRPr lang="en-US" sz="1200" dirty="0"/>
          </a:p>
        </p:txBody>
      </p:sp>
      <p:sp>
        <p:nvSpPr>
          <p:cNvPr id="23" name="Text 2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06</a:t>
            </a:r>
            <a:endParaRPr lang="en-US" sz="1200" dirty="0"/>
          </a:p>
        </p:txBody>
      </p:sp>
      <p:sp>
        <p:nvSpPr>
          <p:cNvPr id="24" name="Shape 22"/>
          <p:cNvSpPr/>
          <p:nvPr/>
        </p:nvSpPr>
        <p:spPr>
          <a:xfrm>
            <a:off x="0" y="6781800"/>
            <a:ext cx="12192000" cy="76200"/>
          </a:xfrm>
          <a:prstGeom prst="rect">
            <a:avLst/>
          </a:prstGeom>
          <a:solidFill>
            <a:srgbClr val="4A1A33"/>
          </a:solidFill>
          <a:ln/>
        </p:spPr>
      </p:sp>
      <p:pic>
        <p:nvPicPr>
          <p:cNvPr id="25"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7B8B0"/>
                </a:solidFill>
                <a:latin typeface="DM Sans" pitchFamily="34" charset="0"/>
                <a:ea typeface="DM Sans" pitchFamily="34" charset="-122"/>
                <a:cs typeface="DM Sans" pitchFamily="34" charset="-120"/>
              </a:rPr>
              <a:t>PLATFORM RULES</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FAF6F0"/>
                </a:solidFill>
                <a:latin typeface="Cormorant Garamond" pitchFamily="34" charset="0"/>
                <a:ea typeface="Cormorant Garamond" pitchFamily="34" charset="-122"/>
                <a:cs typeface="Cormorant Garamond" pitchFamily="34" charset="-120"/>
              </a:rPr>
              <a:t>The ad platforms' rules, and how we work within them</a:t>
            </a:r>
            <a:endParaRPr lang="en-US" sz="3600" dirty="0"/>
          </a:p>
        </p:txBody>
      </p:sp>
      <p:sp>
        <p:nvSpPr>
          <p:cNvPr id="4" name="Shape 2"/>
          <p:cNvSpPr/>
          <p:nvPr/>
        </p:nvSpPr>
        <p:spPr>
          <a:xfrm>
            <a:off x="812800" y="1907183"/>
            <a:ext cx="3386667" cy="0"/>
          </a:xfrm>
          <a:prstGeom prst="line">
            <a:avLst/>
          </a:prstGeom>
          <a:noFill/>
          <a:ln w="12700">
            <a:solidFill>
              <a:srgbClr val="E7B8B0"/>
            </a:solidFill>
            <a:prstDash val="solid"/>
          </a:ln>
        </p:spPr>
      </p:sp>
      <p:sp>
        <p:nvSpPr>
          <p:cNvPr id="5" name="Text 3"/>
          <p:cNvSpPr/>
          <p:nvPr/>
        </p:nvSpPr>
        <p:spPr>
          <a:xfrm>
            <a:off x="812800" y="2065933"/>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LegitScript</a:t>
            </a:r>
            <a:endParaRPr lang="en-US" sz="1500" dirty="0"/>
          </a:p>
        </p:txBody>
      </p:sp>
      <p:sp>
        <p:nvSpPr>
          <p:cNvPr id="6" name="Text 4"/>
          <p:cNvSpPr/>
          <p:nvPr/>
        </p:nvSpPr>
        <p:spPr>
          <a:xfrm>
            <a:off x="812800" y="2370733"/>
            <a:ext cx="3488267"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FDCDD"/>
                </a:solidFill>
                <a:latin typeface="DM Sans" pitchFamily="34" charset="0"/>
                <a:ea typeface="DM Sans" pitchFamily="34" charset="-122"/>
                <a:cs typeface="DM Sans" pitchFamily="34" charset="-120"/>
              </a:rPr>
              <a:t>Required to advertise addiction treatment on Google and Meta. A mental-health-only program doesn't need it, as long as ads and pages avoid addiction and detox language.</a:t>
            </a:r>
            <a:endParaRPr lang="en-US" sz="1200" dirty="0"/>
          </a:p>
        </p:txBody>
      </p:sp>
      <p:sp>
        <p:nvSpPr>
          <p:cNvPr id="7" name="Shape 5"/>
          <p:cNvSpPr/>
          <p:nvPr/>
        </p:nvSpPr>
        <p:spPr>
          <a:xfrm>
            <a:off x="4402667" y="1907183"/>
            <a:ext cx="3386667" cy="0"/>
          </a:xfrm>
          <a:prstGeom prst="line">
            <a:avLst/>
          </a:prstGeom>
          <a:noFill/>
          <a:ln w="12700">
            <a:solidFill>
              <a:srgbClr val="E7B8B0"/>
            </a:solidFill>
            <a:prstDash val="solid"/>
          </a:ln>
        </p:spPr>
      </p:sp>
      <p:sp>
        <p:nvSpPr>
          <p:cNvPr id="8" name="Text 6"/>
          <p:cNvSpPr/>
          <p:nvPr/>
        </p:nvSpPr>
        <p:spPr>
          <a:xfrm>
            <a:off x="4402667" y="2065933"/>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Google health ads</a:t>
            </a:r>
            <a:endParaRPr lang="en-US" sz="1500" dirty="0"/>
          </a:p>
        </p:txBody>
      </p:sp>
      <p:sp>
        <p:nvSpPr>
          <p:cNvPr id="9" name="Text 7"/>
          <p:cNvSpPr/>
          <p:nvPr/>
        </p:nvSpPr>
        <p:spPr>
          <a:xfrm>
            <a:off x="4402667" y="2370733"/>
            <a:ext cx="3488267"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FDCDD"/>
                </a:solidFill>
                <a:latin typeface="DM Sans" pitchFamily="34" charset="0"/>
                <a:ea typeface="DM Sans" pitchFamily="34" charset="-122"/>
                <a:cs typeface="DM Sans" pitchFamily="34" charset="-120"/>
              </a:rPr>
              <a:t>Mental health counseling is a sensitive category: no customer-match, remarketing or lookalike lists. We target by search terms, location and Google's own audiences.</a:t>
            </a:r>
            <a:endParaRPr lang="en-US" sz="1200" dirty="0"/>
          </a:p>
        </p:txBody>
      </p:sp>
      <p:sp>
        <p:nvSpPr>
          <p:cNvPr id="10" name="Shape 8"/>
          <p:cNvSpPr/>
          <p:nvPr/>
        </p:nvSpPr>
        <p:spPr>
          <a:xfrm>
            <a:off x="7992534" y="1907183"/>
            <a:ext cx="3386667" cy="0"/>
          </a:xfrm>
          <a:prstGeom prst="line">
            <a:avLst/>
          </a:prstGeom>
          <a:noFill/>
          <a:ln w="12700">
            <a:solidFill>
              <a:srgbClr val="E7B8B0"/>
            </a:solidFill>
            <a:prstDash val="solid"/>
          </a:ln>
        </p:spPr>
      </p:sp>
      <p:sp>
        <p:nvSpPr>
          <p:cNvPr id="11" name="Text 9"/>
          <p:cNvSpPr/>
          <p:nvPr/>
        </p:nvSpPr>
        <p:spPr>
          <a:xfrm>
            <a:off x="7992534" y="2065933"/>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Meta health limits</a:t>
            </a:r>
            <a:endParaRPr lang="en-US" sz="1500" dirty="0"/>
          </a:p>
        </p:txBody>
      </p:sp>
      <p:sp>
        <p:nvSpPr>
          <p:cNvPr id="12" name="Text 10"/>
          <p:cNvSpPr/>
          <p:nvPr/>
        </p:nvSpPr>
        <p:spPr>
          <a:xfrm>
            <a:off x="7992534" y="2370733"/>
            <a:ext cx="3488267" cy="90910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FDCDD"/>
                </a:solidFill>
                <a:latin typeface="DM Sans" pitchFamily="34" charset="0"/>
                <a:ea typeface="DM Sans" pitchFamily="34" charset="-122"/>
                <a:cs typeface="DM Sans" pitchFamily="34" charset="-120"/>
              </a:rPr>
              <a:t>Since 2025, Meta limits health advertisers from optimizing on bookings and leads. We optimize for reach and calls and measure admissions in our own CRM.</a:t>
            </a:r>
            <a:endParaRPr lang="en-US" sz="12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9B3"/>
                </a:solidFill>
                <a:latin typeface="DM Sans" pitchFamily="34" charset="0"/>
                <a:ea typeface="DM Sans" pitchFamily="34" charset="-122"/>
                <a:cs typeface="DM Sans" pitchFamily="34" charset="-120"/>
              </a:rPr>
              <a:t>Sources: LegitScript; Google Ads "Health in personalized advertising" policy; Meta health and wellness restrictions, 2025–2026</a:t>
            </a:r>
            <a:endParaRPr lang="en-US" sz="1200" dirty="0"/>
          </a:p>
        </p:txBody>
      </p:sp>
      <p:sp>
        <p:nvSpPr>
          <p:cNvPr id="14" name="Text 1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A9B3"/>
                </a:solidFill>
                <a:latin typeface="DM Sans" pitchFamily="34" charset="0"/>
                <a:ea typeface="DM Sans" pitchFamily="34" charset="-122"/>
                <a:cs typeface="DM Sans" pitchFamily="34" charset="-120"/>
              </a:rPr>
              <a:t>07</a:t>
            </a:r>
            <a:endParaRPr lang="en-US" sz="1200" dirty="0"/>
          </a:p>
        </p:txBody>
      </p:sp>
      <p:sp>
        <p:nvSpPr>
          <p:cNvPr id="15" name="Shape 13"/>
          <p:cNvSpPr/>
          <p:nvPr/>
        </p:nvSpPr>
        <p:spPr>
          <a:xfrm>
            <a:off x="0" y="6781800"/>
            <a:ext cx="12192000" cy="76200"/>
          </a:xfrm>
          <a:prstGeom prst="rect">
            <a:avLst/>
          </a:prstGeom>
          <a:solidFill>
            <a:srgbClr val="E7B8B0"/>
          </a:solidFill>
          <a:ln/>
        </p:spPr>
      </p:sp>
      <p:pic>
        <p:nvPicPr>
          <p:cNvPr id="16"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REFERRAL PARTNERS</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One outreach manager, six referral channels</a:t>
            </a:r>
            <a:endParaRPr lang="en-US" sz="3600" dirty="0"/>
          </a:p>
        </p:txBody>
      </p:sp>
      <p:sp>
        <p:nvSpPr>
          <p:cNvPr id="4" name="Shape 2"/>
          <p:cNvSpPr/>
          <p:nvPr/>
        </p:nvSpPr>
        <p:spPr>
          <a:xfrm>
            <a:off x="812800" y="1881783"/>
            <a:ext cx="10566400" cy="0"/>
          </a:xfrm>
          <a:prstGeom prst="line">
            <a:avLst/>
          </a:prstGeom>
          <a:noFill/>
          <a:ln w="12700">
            <a:solidFill>
              <a:srgbClr val="141413">
                <a:alpha val="22000"/>
              </a:srgbClr>
            </a:solidFill>
            <a:prstDash val="solid"/>
          </a:ln>
        </p:spPr>
      </p:sp>
      <p:sp>
        <p:nvSpPr>
          <p:cNvPr id="5" name="Shape 3"/>
          <p:cNvSpPr/>
          <p:nvPr/>
        </p:nvSpPr>
        <p:spPr>
          <a:xfrm>
            <a:off x="819150" y="1875433"/>
            <a:ext cx="0" cy="2680229"/>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964333"/>
          <a:ext cx="10299700" cy="2515129"/>
        </p:xfrm>
        <a:graphic>
          <a:graphicData uri="http://schemas.openxmlformats.org/drawingml/2006/table">
            <a:tbl>
              <a:tblPr/>
              <a:tblGrid>
                <a:gridCol w="3501898"/>
                <a:gridCol w="6797802"/>
              </a:tblGrid>
              <a:tr h="359304">
                <a:tc>
                  <a:txBody>
                    <a:bodyPr/>
                    <a:lstStyle/>
                    <a:p>
                      <a:pPr indent="0" marL="0">
                        <a:lnSpc>
                          <a:spcPts val="1820"/>
                        </a:lnSpc>
                        <a:buNone/>
                      </a:pPr>
                      <a:r>
                        <a:rPr lang="en-US" sz="1300" b="1" dirty="0">
                          <a:solidFill>
                            <a:srgbClr val="FAF6F0"/>
                          </a:solidFill>
                          <a:latin typeface="DM Sans" pitchFamily="34" charset="0"/>
                          <a:ea typeface="DM Sans" pitchFamily="34" charset="-122"/>
                          <a:cs typeface="DM Sans" pitchFamily="34" charset="-120"/>
                        </a:rPr>
                        <a:t>Channel</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c>
                  <a:txBody>
                    <a:bodyPr/>
                    <a:lstStyle/>
                    <a:p>
                      <a:pPr indent="0" marL="0">
                        <a:lnSpc>
                          <a:spcPts val="1820"/>
                        </a:lnSpc>
                        <a:buNone/>
                      </a:pPr>
                      <a:r>
                        <a:rPr lang="en-US" sz="1300" b="1" dirty="0">
                          <a:solidFill>
                            <a:srgbClr val="FAF6F0"/>
                          </a:solidFill>
                          <a:latin typeface="DM Sans" pitchFamily="34" charset="0"/>
                          <a:ea typeface="DM Sans" pitchFamily="34" charset="-122"/>
                          <a:cs typeface="DM Sans" pitchFamily="34" charset="-120"/>
                        </a:rPr>
                        <a:t>Why they refer to EverBloom</a:t>
                      </a:r>
                      <a:endParaRPr lang="en-US" sz="1300" dirty="0">
                        <a:latin typeface="DM Sans" charset="0"/>
                        <a:ea typeface="DM Sans" charset="0"/>
                        <a:cs typeface="DM Sans" charset="0"/>
                      </a:endParaRPr>
                    </a:p>
                  </a:txBody>
                  <a:tcPr marL="57785" marR="57785" marT="57785" marB="57785" anchor="t">
                    <a:lnL w="12700" cap="flat" cmpd="sng" algn="ctr">
                      <a:solidFill>
                        <a:srgbClr val="3E192C"/>
                      </a:solidFill>
                      <a:prstDash val="solid"/>
                      <a:round/>
                      <a:headEnd type="none" w="med" len="med"/>
                      <a:tailEnd type="none" w="med" len="med"/>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Psychiatric hospitals and crisis units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A safe step-down for women after an inpatient stay</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Psychiatrists and therapists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When weekly care is no longer enough, including OCD and eating disorder specialists</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OB/GYNs and pediatricians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Postpartum and perinatal mental health</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Employee assistance programs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Working women who need intensive care and a return plan</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Colleges and universities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Young women 18 to 25, the highest-need adult group</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Alumni and families</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The strongest referral source once the program is running</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bl>
          </a:graphicData>
        </a:graphic>
      </p:graphicFrame>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Outreach staff are salaried; no one is paid per referral or per admission (Florida Patient Brokering Act, s. 817.505)</a:t>
            </a:r>
            <a:endParaRPr lang="en-US" sz="1200" dirty="0"/>
          </a:p>
        </p:txBody>
      </p:sp>
      <p:sp>
        <p:nvSpPr>
          <p:cNvPr id="8" name="Text 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08</a:t>
            </a:r>
            <a:endParaRPr lang="en-US" sz="1200" dirty="0"/>
          </a:p>
        </p:txBody>
      </p:sp>
      <p:sp>
        <p:nvSpPr>
          <p:cNvPr id="9" name="Shape 6"/>
          <p:cNvSpPr/>
          <p:nvPr/>
        </p:nvSpPr>
        <p:spPr>
          <a:xfrm>
            <a:off x="0" y="6781800"/>
            <a:ext cx="12192000" cy="76200"/>
          </a:xfrm>
          <a:prstGeom prst="rect">
            <a:avLst/>
          </a:prstGeom>
          <a:solidFill>
            <a:srgbClr val="4A1A33"/>
          </a:solidFill>
          <a:ln/>
        </p:spPr>
      </p:sp>
      <p:pic>
        <p:nvPicPr>
          <p:cNvPr id="10"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ADMISSIONS</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Marketing earns the call. Admissions earns the patient.</a:t>
            </a:r>
            <a:endParaRPr lang="en-US" sz="3600" dirty="0"/>
          </a:p>
        </p:txBody>
      </p:sp>
      <p:sp>
        <p:nvSpPr>
          <p:cNvPr id="4" name="Shape 2"/>
          <p:cNvSpPr/>
          <p:nvPr/>
        </p:nvSpPr>
        <p:spPr>
          <a:xfrm>
            <a:off x="812800" y="1926233"/>
            <a:ext cx="1910027" cy="1737122"/>
          </a:xfrm>
          <a:prstGeom prst="roundRect">
            <a:avLst>
              <a:gd name="adj" fmla="val 5118"/>
            </a:avLst>
          </a:prstGeom>
          <a:solidFill>
            <a:srgbClr val="4A1A33"/>
          </a:solidFill>
          <a:ln/>
        </p:spPr>
      </p:sp>
      <p:sp>
        <p:nvSpPr>
          <p:cNvPr id="5" name="Text 3"/>
          <p:cNvSpPr/>
          <p:nvPr/>
        </p:nvSpPr>
        <p:spPr>
          <a:xfrm>
            <a:off x="990600" y="2104033"/>
            <a:ext cx="16052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7B8B0"/>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990600" y="2368153"/>
            <a:ext cx="16052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AF6F0"/>
                </a:solidFill>
                <a:latin typeface="DM Sans" pitchFamily="34" charset="0"/>
                <a:ea typeface="DM Sans" pitchFamily="34" charset="-122"/>
                <a:cs typeface="DM Sans" pitchFamily="34" charset="-120"/>
              </a:rPr>
              <a:t>Live answer</a:t>
            </a:r>
            <a:endParaRPr lang="en-US" sz="1400" dirty="0"/>
          </a:p>
        </p:txBody>
      </p:sp>
      <p:sp>
        <p:nvSpPr>
          <p:cNvPr id="7" name="Text 5"/>
          <p:cNvSpPr/>
          <p:nvPr/>
        </p:nvSpPr>
        <p:spPr>
          <a:xfrm>
            <a:off x="990600" y="2632273"/>
            <a:ext cx="160522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DCDD"/>
                </a:solidFill>
                <a:latin typeface="DM Sans" pitchFamily="34" charset="0"/>
                <a:ea typeface="DM Sans" pitchFamily="34" charset="-122"/>
                <a:cs typeface="DM Sans" pitchFamily="34" charset="-120"/>
              </a:rPr>
              <a:t>A coordinator by day, an on-call phone after hours. No voicemail.</a:t>
            </a:r>
            <a:endParaRPr lang="en-US" sz="1200" dirty="0"/>
          </a:p>
        </p:txBody>
      </p:sp>
      <p:pic>
        <p:nvPicPr>
          <p:cNvPr id="8" name="Image 0" descr="connector">    </p:cNvPr>
          <p:cNvPicPr>
            <a:picLocks noChangeAspect="1"/>
          </p:cNvPicPr>
          <p:nvPr/>
        </p:nvPicPr>
        <p:blipFill>
          <a:blip r:embed="rId1"/>
          <a:srcRect l="0" r="0" t="0" b="0"/>
          <a:stretch/>
        </p:blipFill>
        <p:spPr>
          <a:xfrm>
            <a:off x="2722827" y="1926233"/>
            <a:ext cx="254000" cy="101600"/>
          </a:xfrm>
          <a:prstGeom prst="rect">
            <a:avLst/>
          </a:prstGeom>
        </p:spPr>
      </p:pic>
      <p:sp>
        <p:nvSpPr>
          <p:cNvPr id="9" name="Shape 6"/>
          <p:cNvSpPr/>
          <p:nvPr/>
        </p:nvSpPr>
        <p:spPr>
          <a:xfrm>
            <a:off x="2976827" y="1926233"/>
            <a:ext cx="1910093" cy="1737122"/>
          </a:xfrm>
          <a:prstGeom prst="roundRect">
            <a:avLst>
              <a:gd name="adj" fmla="val 5118"/>
            </a:avLst>
          </a:prstGeom>
          <a:solidFill>
            <a:srgbClr val="FFFDF8"/>
          </a:solidFill>
          <a:ln/>
        </p:spPr>
      </p:sp>
      <p:sp>
        <p:nvSpPr>
          <p:cNvPr id="10" name="Text 7"/>
          <p:cNvSpPr/>
          <p:nvPr/>
        </p:nvSpPr>
        <p:spPr>
          <a:xfrm>
            <a:off x="3154627" y="2104033"/>
            <a:ext cx="16052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2</a:t>
            </a:r>
            <a:endParaRPr lang="en-US" sz="1200" dirty="0"/>
          </a:p>
        </p:txBody>
      </p:sp>
      <p:sp>
        <p:nvSpPr>
          <p:cNvPr id="11" name="Text 8"/>
          <p:cNvSpPr/>
          <p:nvPr/>
        </p:nvSpPr>
        <p:spPr>
          <a:xfrm>
            <a:off x="3154627" y="2368153"/>
            <a:ext cx="16052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Screen</a:t>
            </a:r>
            <a:endParaRPr lang="en-US" sz="1400" dirty="0"/>
          </a:p>
        </p:txBody>
      </p:sp>
      <p:sp>
        <p:nvSpPr>
          <p:cNvPr id="12" name="Text 9"/>
          <p:cNvSpPr/>
          <p:nvPr/>
        </p:nvSpPr>
        <p:spPr>
          <a:xfrm>
            <a:off x="3154627" y="2632273"/>
            <a:ext cx="16052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Fit for level of care; safety first</a:t>
            </a:r>
            <a:endParaRPr lang="en-US" sz="1200" dirty="0"/>
          </a:p>
        </p:txBody>
      </p:sp>
      <p:pic>
        <p:nvPicPr>
          <p:cNvPr id="13" name="Image 1" descr="connector">    </p:cNvPr>
          <p:cNvPicPr>
            <a:picLocks noChangeAspect="1"/>
          </p:cNvPicPr>
          <p:nvPr/>
        </p:nvPicPr>
        <p:blipFill>
          <a:blip r:embed="rId2"/>
          <a:srcRect l="0" r="0" t="0" b="0"/>
          <a:stretch/>
        </p:blipFill>
        <p:spPr>
          <a:xfrm>
            <a:off x="4886920" y="1926233"/>
            <a:ext cx="254000" cy="101600"/>
          </a:xfrm>
          <a:prstGeom prst="rect">
            <a:avLst/>
          </a:prstGeom>
        </p:spPr>
      </p:pic>
      <p:sp>
        <p:nvSpPr>
          <p:cNvPr id="14" name="Shape 10"/>
          <p:cNvSpPr/>
          <p:nvPr/>
        </p:nvSpPr>
        <p:spPr>
          <a:xfrm>
            <a:off x="5140920" y="1926233"/>
            <a:ext cx="1910093" cy="1737122"/>
          </a:xfrm>
          <a:prstGeom prst="roundRect">
            <a:avLst>
              <a:gd name="adj" fmla="val 5118"/>
            </a:avLst>
          </a:prstGeom>
          <a:solidFill>
            <a:srgbClr val="FFFDF8"/>
          </a:solidFill>
          <a:ln/>
        </p:spPr>
      </p:sp>
      <p:sp>
        <p:nvSpPr>
          <p:cNvPr id="15" name="Text 11"/>
          <p:cNvSpPr/>
          <p:nvPr/>
        </p:nvSpPr>
        <p:spPr>
          <a:xfrm>
            <a:off x="5318720" y="2104033"/>
            <a:ext cx="16052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3</a:t>
            </a:r>
            <a:endParaRPr lang="en-US" sz="1200" dirty="0"/>
          </a:p>
        </p:txBody>
      </p:sp>
      <p:sp>
        <p:nvSpPr>
          <p:cNvPr id="16" name="Text 12"/>
          <p:cNvSpPr/>
          <p:nvPr/>
        </p:nvSpPr>
        <p:spPr>
          <a:xfrm>
            <a:off x="5318720" y="2368153"/>
            <a:ext cx="16052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Benefits check</a:t>
            </a:r>
            <a:endParaRPr lang="en-US" sz="1400" dirty="0"/>
          </a:p>
        </p:txBody>
      </p:sp>
      <p:sp>
        <p:nvSpPr>
          <p:cNvPr id="17" name="Text 13"/>
          <p:cNvSpPr/>
          <p:nvPr/>
        </p:nvSpPr>
        <p:spPr>
          <a:xfrm>
            <a:off x="5318720" y="2632273"/>
            <a:ext cx="160529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Verified and explained the same day</a:t>
            </a:r>
            <a:endParaRPr lang="en-US" sz="1200" dirty="0"/>
          </a:p>
        </p:txBody>
      </p:sp>
      <p:pic>
        <p:nvPicPr>
          <p:cNvPr id="18" name="Image 2" descr="connector">    </p:cNvPr>
          <p:cNvPicPr>
            <a:picLocks noChangeAspect="1"/>
          </p:cNvPicPr>
          <p:nvPr/>
        </p:nvPicPr>
        <p:blipFill>
          <a:blip r:embed="rId3"/>
          <a:srcRect l="0" r="0" t="0" b="0"/>
          <a:stretch/>
        </p:blipFill>
        <p:spPr>
          <a:xfrm>
            <a:off x="7051014" y="1926233"/>
            <a:ext cx="254000" cy="101600"/>
          </a:xfrm>
          <a:prstGeom prst="rect">
            <a:avLst/>
          </a:prstGeom>
        </p:spPr>
      </p:pic>
      <p:sp>
        <p:nvSpPr>
          <p:cNvPr id="19" name="Shape 14"/>
          <p:cNvSpPr/>
          <p:nvPr/>
        </p:nvSpPr>
        <p:spPr>
          <a:xfrm>
            <a:off x="7305014" y="1926233"/>
            <a:ext cx="1910093" cy="1737122"/>
          </a:xfrm>
          <a:prstGeom prst="roundRect">
            <a:avLst>
              <a:gd name="adj" fmla="val 5118"/>
            </a:avLst>
          </a:prstGeom>
          <a:solidFill>
            <a:srgbClr val="FFFDF8"/>
          </a:solidFill>
          <a:ln/>
        </p:spPr>
      </p:sp>
      <p:sp>
        <p:nvSpPr>
          <p:cNvPr id="20" name="Text 15"/>
          <p:cNvSpPr/>
          <p:nvPr/>
        </p:nvSpPr>
        <p:spPr>
          <a:xfrm>
            <a:off x="7482814" y="2104033"/>
            <a:ext cx="16052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4</a:t>
            </a:r>
            <a:endParaRPr lang="en-US" sz="1200" dirty="0"/>
          </a:p>
        </p:txBody>
      </p:sp>
      <p:sp>
        <p:nvSpPr>
          <p:cNvPr id="21" name="Text 16"/>
          <p:cNvSpPr/>
          <p:nvPr/>
        </p:nvSpPr>
        <p:spPr>
          <a:xfrm>
            <a:off x="7482814" y="2368153"/>
            <a:ext cx="16052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Admit</a:t>
            </a:r>
            <a:endParaRPr lang="en-US" sz="1400" dirty="0"/>
          </a:p>
        </p:txBody>
      </p:sp>
      <p:sp>
        <p:nvSpPr>
          <p:cNvPr id="22" name="Text 17"/>
          <p:cNvSpPr/>
          <p:nvPr/>
        </p:nvSpPr>
        <p:spPr>
          <a:xfrm>
            <a:off x="7482814" y="2632273"/>
            <a:ext cx="16052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Arrival planned, transport offered</a:t>
            </a:r>
            <a:endParaRPr lang="en-US" sz="1200" dirty="0"/>
          </a:p>
        </p:txBody>
      </p:sp>
      <p:pic>
        <p:nvPicPr>
          <p:cNvPr id="23" name="Image 3" descr="connector">    </p:cNvPr>
          <p:cNvPicPr>
            <a:picLocks noChangeAspect="1"/>
          </p:cNvPicPr>
          <p:nvPr/>
        </p:nvPicPr>
        <p:blipFill>
          <a:blip r:embed="rId4"/>
          <a:srcRect l="0" r="0" t="0" b="0"/>
          <a:stretch/>
        </p:blipFill>
        <p:spPr>
          <a:xfrm>
            <a:off x="9215107" y="1926233"/>
            <a:ext cx="254000" cy="101600"/>
          </a:xfrm>
          <a:prstGeom prst="rect">
            <a:avLst/>
          </a:prstGeom>
        </p:spPr>
      </p:pic>
      <p:sp>
        <p:nvSpPr>
          <p:cNvPr id="24" name="Shape 18"/>
          <p:cNvSpPr/>
          <p:nvPr/>
        </p:nvSpPr>
        <p:spPr>
          <a:xfrm>
            <a:off x="9469107" y="1926233"/>
            <a:ext cx="1910093" cy="1737122"/>
          </a:xfrm>
          <a:prstGeom prst="roundRect">
            <a:avLst>
              <a:gd name="adj" fmla="val 5118"/>
            </a:avLst>
          </a:prstGeom>
          <a:solidFill>
            <a:srgbClr val="FFFDF8"/>
          </a:solidFill>
          <a:ln/>
        </p:spPr>
      </p:sp>
      <p:sp>
        <p:nvSpPr>
          <p:cNvPr id="25" name="Text 19"/>
          <p:cNvSpPr/>
          <p:nvPr/>
        </p:nvSpPr>
        <p:spPr>
          <a:xfrm>
            <a:off x="9646907" y="2104033"/>
            <a:ext cx="16052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5</a:t>
            </a:r>
            <a:endParaRPr lang="en-US" sz="1200" dirty="0"/>
          </a:p>
        </p:txBody>
      </p:sp>
      <p:sp>
        <p:nvSpPr>
          <p:cNvPr id="26" name="Text 20"/>
          <p:cNvSpPr/>
          <p:nvPr/>
        </p:nvSpPr>
        <p:spPr>
          <a:xfrm>
            <a:off x="9646907" y="2368153"/>
            <a:ext cx="16052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1A33"/>
                </a:solidFill>
                <a:latin typeface="DM Sans" pitchFamily="34" charset="0"/>
                <a:ea typeface="DM Sans" pitchFamily="34" charset="-122"/>
                <a:cs typeface="DM Sans" pitchFamily="34" charset="-120"/>
              </a:rPr>
              <a:t>Refer out</a:t>
            </a:r>
            <a:endParaRPr lang="en-US" sz="1400" dirty="0"/>
          </a:p>
        </p:txBody>
      </p:sp>
      <p:sp>
        <p:nvSpPr>
          <p:cNvPr id="27" name="Text 21"/>
          <p:cNvSpPr/>
          <p:nvPr/>
        </p:nvSpPr>
        <p:spPr>
          <a:xfrm>
            <a:off x="9646907" y="2632273"/>
            <a:ext cx="16052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Not a fit? A warm handoff elsewhere</a:t>
            </a:r>
            <a:endParaRPr lang="en-US" sz="1200" dirty="0"/>
          </a:p>
        </p:txBody>
      </p:sp>
      <p:sp>
        <p:nvSpPr>
          <p:cNvPr id="28" name="Text 22"/>
          <p:cNvSpPr/>
          <p:nvPr/>
        </p:nvSpPr>
        <p:spPr>
          <a:xfrm>
            <a:off x="812800" y="3968155"/>
            <a:ext cx="102031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A1A33"/>
                </a:solidFill>
                <a:latin typeface="DM Sans" pitchFamily="34" charset="0"/>
                <a:ea typeface="DM Sans" pitchFamily="34" charset="-122"/>
                <a:cs typeface="DM Sans" pitchFamily="34" charset="-120"/>
              </a:rPr>
              <a:t>Every inquiry logged in the CRM with its source,</a:t>
            </a:r>
            <a:r>
              <a:rPr lang="en-US" sz="1400" dirty="0">
                <a:solidFill>
                  <a:srgbClr val="4A1A33"/>
                </a:solidFill>
                <a:latin typeface="DM Sans" pitchFamily="34" charset="0"/>
                <a:ea typeface="DM Sans" pitchFamily="34" charset="-122"/>
                <a:cs typeface="DM Sans" pitchFamily="34" charset="-120"/>
              </a:rPr>
              <a:t> so we know which channel, campaign or referrer produced each admission.</a:t>
            </a:r>
            <a:endParaRPr lang="en-US" sz="1400" dirty="0"/>
          </a:p>
        </p:txBody>
      </p:sp>
      <p:sp>
        <p:nvSpPr>
          <p:cNvPr id="29"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Team: 1.5 FTE admissions and verification coordinators, 7 days; after-hours on-call phone; clinical screen by the DON or NP</a:t>
            </a:r>
            <a:endParaRPr lang="en-US" sz="1200" dirty="0"/>
          </a:p>
        </p:txBody>
      </p:sp>
      <p:sp>
        <p:nvSpPr>
          <p:cNvPr id="30" name="Text 24"/>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09</a:t>
            </a:r>
            <a:endParaRPr lang="en-US" sz="1200" dirty="0"/>
          </a:p>
        </p:txBody>
      </p:sp>
      <p:sp>
        <p:nvSpPr>
          <p:cNvPr id="31" name="Shape 25"/>
          <p:cNvSpPr/>
          <p:nvPr/>
        </p:nvSpPr>
        <p:spPr>
          <a:xfrm>
            <a:off x="0" y="6781800"/>
            <a:ext cx="12192000" cy="76200"/>
          </a:xfrm>
          <a:prstGeom prst="rect">
            <a:avLst/>
          </a:prstGeom>
          <a:solidFill>
            <a:srgbClr val="4A1A33"/>
          </a:solidFill>
          <a:ln/>
        </p:spPr>
      </p:sp>
      <p:pic>
        <p:nvPicPr>
          <p:cNvPr id="32" name="Image 4" descr="EverBloom emblem">    </p:cNvPr>
          <p:cNvPicPr>
            <a:picLocks noChangeAspect="1"/>
          </p:cNvPicPr>
          <p:nvPr/>
        </p:nvPicPr>
        <p:blipFill>
          <a:blip r:embed="rId5"/>
          <a:srcRect l="0" r="0" t="-78" b="-78"/>
          <a:stretch/>
        </p:blipFill>
        <p:spPr>
          <a:xfrm>
            <a:off x="10363200" y="254000"/>
            <a:ext cx="1016000" cy="819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PRIVACY AND COMPLIANCE</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Marketing that holds up to a regulator</a:t>
            </a:r>
            <a:endParaRPr lang="en-US" sz="3600" dirty="0"/>
          </a:p>
        </p:txBody>
      </p:sp>
      <p:sp>
        <p:nvSpPr>
          <p:cNvPr id="4" name="Shape 2"/>
          <p:cNvSpPr/>
          <p:nvPr/>
        </p:nvSpPr>
        <p:spPr>
          <a:xfrm>
            <a:off x="812800" y="1900833"/>
            <a:ext cx="5194300" cy="1061641"/>
          </a:xfrm>
          <a:prstGeom prst="roundRect">
            <a:avLst>
              <a:gd name="adj" fmla="val 7178"/>
            </a:avLst>
          </a:prstGeom>
          <a:solidFill>
            <a:srgbClr val="FFFDF8"/>
          </a:solidFill>
          <a:ln/>
        </p:spPr>
      </p:sp>
      <p:sp>
        <p:nvSpPr>
          <p:cNvPr id="5" name="Shape 3"/>
          <p:cNvSpPr/>
          <p:nvPr/>
        </p:nvSpPr>
        <p:spPr>
          <a:xfrm>
            <a:off x="812800" y="190083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4A1A33"/>
          </a:solidFill>
          <a:ln/>
        </p:spPr>
      </p:sp>
      <p:sp>
        <p:nvSpPr>
          <p:cNvPr id="6" name="Text 4"/>
          <p:cNvSpPr/>
          <p:nvPr/>
        </p:nvSpPr>
        <p:spPr>
          <a:xfrm>
            <a:off x="1054100" y="207863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No health data to ad platforms</a:t>
            </a:r>
            <a:endParaRPr lang="en-US" sz="1500" dirty="0"/>
          </a:p>
        </p:txBody>
      </p:sp>
      <p:sp>
        <p:nvSpPr>
          <p:cNvPr id="7" name="Text 5"/>
          <p:cNvSpPr/>
          <p:nvPr/>
        </p:nvSpPr>
        <p:spPr>
          <a:xfrm>
            <a:off x="1054100" y="235803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No Meta or Google pixels on forms or patient pages; HIPAA-compliant forms and call tracking with signed agreements</a:t>
            </a:r>
            <a:endParaRPr lang="en-US" sz="1200" dirty="0"/>
          </a:p>
        </p:txBody>
      </p:sp>
      <p:sp>
        <p:nvSpPr>
          <p:cNvPr id="8" name="Shape 6"/>
          <p:cNvSpPr/>
          <p:nvPr/>
        </p:nvSpPr>
        <p:spPr>
          <a:xfrm>
            <a:off x="6184900" y="1900833"/>
            <a:ext cx="5194300" cy="1061641"/>
          </a:xfrm>
          <a:prstGeom prst="roundRect">
            <a:avLst>
              <a:gd name="adj" fmla="val 7178"/>
            </a:avLst>
          </a:prstGeom>
          <a:solidFill>
            <a:srgbClr val="FFFDF8"/>
          </a:solidFill>
          <a:ln/>
        </p:spPr>
      </p:sp>
      <p:sp>
        <p:nvSpPr>
          <p:cNvPr id="9" name="Shape 7"/>
          <p:cNvSpPr/>
          <p:nvPr/>
        </p:nvSpPr>
        <p:spPr>
          <a:xfrm>
            <a:off x="6184900" y="190083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4A1A33"/>
          </a:solidFill>
          <a:ln/>
        </p:spPr>
      </p:sp>
      <p:sp>
        <p:nvSpPr>
          <p:cNvPr id="10" name="Text 8"/>
          <p:cNvSpPr/>
          <p:nvPr/>
        </p:nvSpPr>
        <p:spPr>
          <a:xfrm>
            <a:off x="6426200" y="207863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No paid referrals</a:t>
            </a:r>
            <a:endParaRPr lang="en-US" sz="1500" dirty="0"/>
          </a:p>
        </p:txBody>
      </p:sp>
      <p:sp>
        <p:nvSpPr>
          <p:cNvPr id="11" name="Text 9"/>
          <p:cNvSpPr/>
          <p:nvPr/>
        </p:nvSpPr>
        <p:spPr>
          <a:xfrm>
            <a:off x="6426200" y="235803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No per-lead vendors, no payments to referral sources, salaried outreach staff (Florida Patient Brokering Act)</a:t>
            </a:r>
            <a:endParaRPr lang="en-US" sz="1200" dirty="0"/>
          </a:p>
        </p:txBody>
      </p:sp>
      <p:sp>
        <p:nvSpPr>
          <p:cNvPr id="12" name="Shape 10"/>
          <p:cNvSpPr/>
          <p:nvPr/>
        </p:nvSpPr>
        <p:spPr>
          <a:xfrm>
            <a:off x="812800" y="3140273"/>
            <a:ext cx="5194300" cy="1061641"/>
          </a:xfrm>
          <a:prstGeom prst="roundRect">
            <a:avLst>
              <a:gd name="adj" fmla="val 7178"/>
            </a:avLst>
          </a:prstGeom>
          <a:solidFill>
            <a:srgbClr val="FFFDF8"/>
          </a:solidFill>
          <a:ln/>
        </p:spPr>
      </p:sp>
      <p:sp>
        <p:nvSpPr>
          <p:cNvPr id="13" name="Shape 11"/>
          <p:cNvSpPr/>
          <p:nvPr/>
        </p:nvSpPr>
        <p:spPr>
          <a:xfrm>
            <a:off x="812800" y="314027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647556"/>
          </a:solidFill>
          <a:ln/>
        </p:spPr>
      </p:sp>
      <p:sp>
        <p:nvSpPr>
          <p:cNvPr id="14" name="Text 12"/>
          <p:cNvSpPr/>
          <p:nvPr/>
        </p:nvSpPr>
        <p:spPr>
          <a:xfrm>
            <a:off x="1054100" y="331807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Honest claims</a:t>
            </a:r>
            <a:endParaRPr lang="en-US" sz="1500" dirty="0"/>
          </a:p>
        </p:txBody>
      </p:sp>
      <p:sp>
        <p:nvSpPr>
          <p:cNvPr id="15" name="Text 13"/>
          <p:cNvSpPr/>
          <p:nvPr/>
        </p:nvSpPr>
        <p:spPr>
          <a:xfrm>
            <a:off x="1054100" y="359747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Outcomes shown only from our own measured data; no cure claims; accreditation named only once earned</a:t>
            </a:r>
            <a:endParaRPr lang="en-US" sz="1200" dirty="0"/>
          </a:p>
        </p:txBody>
      </p:sp>
      <p:sp>
        <p:nvSpPr>
          <p:cNvPr id="16" name="Shape 14"/>
          <p:cNvSpPr/>
          <p:nvPr/>
        </p:nvSpPr>
        <p:spPr>
          <a:xfrm>
            <a:off x="6184900" y="3140273"/>
            <a:ext cx="5194300" cy="1061641"/>
          </a:xfrm>
          <a:prstGeom prst="roundRect">
            <a:avLst>
              <a:gd name="adj" fmla="val 7178"/>
            </a:avLst>
          </a:prstGeom>
          <a:solidFill>
            <a:srgbClr val="FFFDF8"/>
          </a:solidFill>
          <a:ln/>
        </p:spPr>
      </p:sp>
      <p:sp>
        <p:nvSpPr>
          <p:cNvPr id="17" name="Shape 15"/>
          <p:cNvSpPr/>
          <p:nvPr/>
        </p:nvSpPr>
        <p:spPr>
          <a:xfrm>
            <a:off x="6184900" y="3140273"/>
            <a:ext cx="5194300" cy="1061641"/>
          </a:xfrm>
          <a:custGeom>
            <a:avLst/>
            <a:gdLst/>
            <a:ahLst/>
            <a:cxnLst/>
            <a:rect l="l" t="t" r="r" b="b"/>
            <a:pathLst>
              <a:path w="5194300" h="1061641">
                <a:moveTo>
                  <a:pt x="76200" y="1061641"/>
                </a:moveTo>
                <a:lnTo>
                  <a:pt x="76200" y="1061641"/>
                </a:lnTo>
                <a:arcTo hR="76200" wR="76200" stAng="5400000" swAng="5400000"/>
                <a:lnTo>
                  <a:pt x="0" y="76200"/>
                </a:lnTo>
                <a:arcTo hR="76200" wR="76200" stAng="10800000" swAng="5400000"/>
                <a:lnTo>
                  <a:pt x="76200" y="0"/>
                </a:lnTo>
                <a:arcTo hR="76200" wR="38100" stAng="16200000" swAng="-5400000"/>
                <a:lnTo>
                  <a:pt x="38100" y="985441"/>
                </a:lnTo>
                <a:arcTo hR="76200" wR="38100" stAng="10800000" swAng="-5400000"/>
                <a:close/>
              </a:path>
            </a:pathLst>
          </a:custGeom>
          <a:solidFill>
            <a:srgbClr val="647556"/>
          </a:solidFill>
          <a:ln/>
        </p:spPr>
      </p:sp>
      <p:sp>
        <p:nvSpPr>
          <p:cNvPr id="18" name="Text 16"/>
          <p:cNvSpPr/>
          <p:nvPr/>
        </p:nvSpPr>
        <p:spPr>
          <a:xfrm>
            <a:off x="6426200" y="3318073"/>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A1A33"/>
                </a:solidFill>
                <a:latin typeface="DM Sans" pitchFamily="34" charset="0"/>
                <a:ea typeface="DM Sans" pitchFamily="34" charset="-122"/>
                <a:cs typeface="DM Sans" pitchFamily="34" charset="-120"/>
              </a:rPr>
              <a:t>Reviews and testimonials</a:t>
            </a:r>
            <a:endParaRPr lang="en-US" sz="1500" dirty="0"/>
          </a:p>
        </p:txBody>
      </p:sp>
      <p:sp>
        <p:nvSpPr>
          <p:cNvPr id="19" name="Text 17"/>
          <p:cNvSpPr/>
          <p:nvPr/>
        </p:nvSpPr>
        <p:spPr>
          <a:xfrm>
            <a:off x="6426200" y="3597473"/>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Replies never confirm someone was a patient; testimonials only with written consent</a:t>
            </a:r>
            <a:endParaRPr lang="en-US" sz="12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HHS OCR online tracking guidance (partly vacated in 2024; the rest still applies) · Fla. Stat. 817.505 · legal review before launch</a:t>
            </a:r>
            <a:endParaRPr lang="en-US" sz="1200" dirty="0"/>
          </a:p>
        </p:txBody>
      </p:sp>
      <p:sp>
        <p:nvSpPr>
          <p:cNvPr id="21" name="Text 1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10</a:t>
            </a:r>
            <a:endParaRPr lang="en-US" sz="1200" dirty="0"/>
          </a:p>
        </p:txBody>
      </p:sp>
      <p:sp>
        <p:nvSpPr>
          <p:cNvPr id="22" name="Shape 20"/>
          <p:cNvSpPr/>
          <p:nvPr/>
        </p:nvSpPr>
        <p:spPr>
          <a:xfrm>
            <a:off x="0" y="6781800"/>
            <a:ext cx="12192000" cy="76200"/>
          </a:xfrm>
          <a:prstGeom prst="rect">
            <a:avLst/>
          </a:prstGeom>
          <a:solidFill>
            <a:srgbClr val="4A1A33"/>
          </a:solidFill>
          <a:ln/>
        </p:spPr>
      </p:sp>
      <p:pic>
        <p:nvPicPr>
          <p:cNvPr id="23"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TEAM AND BUDGET</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About $0.5M a year for the whole engine, all in-house</a:t>
            </a:r>
            <a:endParaRPr lang="en-US" sz="3600" dirty="0"/>
          </a:p>
        </p:txBody>
      </p:sp>
      <p:sp>
        <p:nvSpPr>
          <p:cNvPr id="4" name="Shape 2"/>
          <p:cNvSpPr/>
          <p:nvPr/>
        </p:nvSpPr>
        <p:spPr>
          <a:xfrm>
            <a:off x="812800" y="1881783"/>
            <a:ext cx="6350000" cy="0"/>
          </a:xfrm>
          <a:prstGeom prst="line">
            <a:avLst/>
          </a:prstGeom>
          <a:noFill/>
          <a:ln w="12700">
            <a:solidFill>
              <a:srgbClr val="141413">
                <a:alpha val="22000"/>
              </a:srgbClr>
            </a:solidFill>
            <a:prstDash val="solid"/>
          </a:ln>
        </p:spPr>
      </p:sp>
      <p:sp>
        <p:nvSpPr>
          <p:cNvPr id="5" name="Shape 3"/>
          <p:cNvSpPr/>
          <p:nvPr/>
        </p:nvSpPr>
        <p:spPr>
          <a:xfrm>
            <a:off x="819150" y="1875433"/>
            <a:ext cx="0" cy="2680229"/>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964333"/>
          <a:ext cx="6083300" cy="2515129"/>
        </p:xfrm>
        <a:graphic>
          <a:graphicData uri="http://schemas.openxmlformats.org/drawingml/2006/table">
            <a:tbl>
              <a:tblPr/>
              <a:tblGrid>
                <a:gridCol w="3771646"/>
                <a:gridCol w="2311654"/>
              </a:tblGrid>
              <a:tr h="359304">
                <a:tc>
                  <a:txBody>
                    <a:bodyPr/>
                    <a:lstStyle/>
                    <a:p>
                      <a:pPr indent="0" marL="0">
                        <a:lnSpc>
                          <a:spcPts val="1820"/>
                        </a:lnSpc>
                        <a:buNone/>
                      </a:pPr>
                      <a:r>
                        <a:rPr lang="en-US" sz="1300" b="1" dirty="0">
                          <a:solidFill>
                            <a:srgbClr val="FAF6F0"/>
                          </a:solidFill>
                          <a:latin typeface="DM Sans" pitchFamily="34" charset="0"/>
                          <a:ea typeface="DM Sans" pitchFamily="34" charset="-122"/>
                          <a:cs typeface="DM Sans" pitchFamily="34" charset="-120"/>
                        </a:rPr>
                        <a:t>Line</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c>
                  <a:txBody>
                    <a:bodyPr/>
                    <a:lstStyle/>
                    <a:p>
                      <a:pPr algn="r" indent="0" marL="0">
                        <a:lnSpc>
                          <a:spcPts val="1820"/>
                        </a:lnSpc>
                        <a:buNone/>
                      </a:pPr>
                      <a:r>
                        <a:rPr lang="en-US" sz="1300" b="1" dirty="0">
                          <a:solidFill>
                            <a:srgbClr val="FAF6F0"/>
                          </a:solidFill>
                          <a:latin typeface="DM Sans" pitchFamily="34" charset="0"/>
                          <a:ea typeface="DM Sans" pitchFamily="34" charset="-122"/>
                          <a:cs typeface="DM Sans" pitchFamily="34" charset="-120"/>
                        </a:rPr>
                        <a:t>Per year, stabilized</a:t>
                      </a:r>
                      <a:endParaRPr lang="en-US" sz="1300" dirty="0">
                        <a:latin typeface="DM Sans" charset="0"/>
                        <a:ea typeface="DM Sans" charset="0"/>
                        <a:cs typeface="DM Sans" charset="0"/>
                      </a:endParaRPr>
                    </a:p>
                  </a:txBody>
                  <a:tcPr marL="57785" marR="57785" marT="57785" marB="57785" anchor="t">
                    <a:lnL w="12700" cap="flat" cmpd="sng" algn="ctr">
                      <a:solidFill>
                        <a:srgbClr val="3E192C"/>
                      </a:solidFill>
                      <a:prstDash val="solid"/>
                      <a:round/>
                      <a:headEnd type="none" w="med" len="med"/>
                      <a:tailEnd type="none" w="med" len="med"/>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Outreach and digital marketing manager (1)</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$85K</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Admissions and verification coordinators (1.5)</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$84K</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Brand, content and website (Ashlee, COO)</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In COO role</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Paid media</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$300K</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SEO tools, call tracking, CRM</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$36K</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Total</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B8ADA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8ADA3"/>
                      </a:solidFill>
                      <a:prstDash val="solid"/>
                      <a:round/>
                      <a:headEnd type="none" w="med" len="med"/>
                      <a:tailEnd type="none" w="med" len="med"/>
                    </a:lnB>
                    <a:solidFill>
                      <a:srgbClr val="E6D8CC"/>
                    </a:solidFill>
                  </a:tcPr>
                </a:tc>
                <a:tc>
                  <a:txBody>
                    <a:bodyPr/>
                    <a:lstStyle/>
                    <a:p>
                      <a:pPr algn="r" indent="0" marL="0">
                        <a:lnSpc>
                          <a:spcPts val="1820"/>
                        </a:lnSpc>
                        <a:buNone/>
                      </a:pPr>
                      <a:r>
                        <a:rPr lang="en-US" sz="1300" dirty="0">
                          <a:solidFill>
                            <a:srgbClr val="2E1522"/>
                          </a:solidFill>
                          <a:latin typeface="DM Sans" pitchFamily="34" charset="0"/>
                          <a:ea typeface="DM Sans" pitchFamily="34" charset="-122"/>
                          <a:cs typeface="DM Sans" pitchFamily="34" charset="-120"/>
                        </a:rPr>
                        <a:t>$506K</a:t>
                      </a:r>
                      <a:endParaRPr lang="en-US" sz="1300" dirty="0">
                        <a:latin typeface="DM Sans" charset="0"/>
                        <a:ea typeface="DM Sans" charset="0"/>
                        <a:cs typeface="DM Sans" charset="0"/>
                      </a:endParaRPr>
                    </a:p>
                  </a:txBody>
                  <a:tcPr marL="57785" marR="57785" marT="57785" marB="57785" anchor="t">
                    <a:lnL w="12700" cap="flat" cmpd="sng" algn="ctr">
                      <a:solidFill>
                        <a:srgbClr val="B8ADA3"/>
                      </a:solidFill>
                      <a:prstDash val="solid"/>
                      <a:round/>
                      <a:headEnd type="none" w="med" len="med"/>
                      <a:tailEnd type="none" w="med" len="med"/>
                    </a:lnL>
                    <a:lnR w="12700" cap="flat" cmpd="sng" algn="ctr">
                      <a:solidFill>
                        <a:srgbClr val="B8ADA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8ADA3"/>
                      </a:solidFill>
                      <a:prstDash val="solid"/>
                      <a:round/>
                      <a:headEnd type="none" w="med" len="med"/>
                      <a:tailEnd type="none" w="med" len="med"/>
                    </a:lnB>
                    <a:solidFill>
                      <a:srgbClr val="E6D8CC"/>
                    </a:solidFill>
                  </a:tcPr>
                </a:tc>
              </a:tr>
            </a:tbl>
          </a:graphicData>
        </a:graphic>
      </p:graphicFrame>
      <p:sp>
        <p:nvSpPr>
          <p:cNvPr id="7" name="Shape 4"/>
          <p:cNvSpPr/>
          <p:nvPr/>
        </p:nvSpPr>
        <p:spPr>
          <a:xfrm>
            <a:off x="7518400" y="1875433"/>
            <a:ext cx="3860800" cy="1020961"/>
          </a:xfrm>
          <a:prstGeom prst="roundRect">
            <a:avLst>
              <a:gd name="adj" fmla="val 8707"/>
            </a:avLst>
          </a:prstGeom>
          <a:solidFill>
            <a:srgbClr val="4A1A33"/>
          </a:solidFill>
          <a:ln/>
        </p:spPr>
      </p:sp>
      <p:sp>
        <p:nvSpPr>
          <p:cNvPr id="8" name="Text 5"/>
          <p:cNvSpPr/>
          <p:nvPr/>
        </p:nvSpPr>
        <p:spPr>
          <a:xfrm>
            <a:off x="7708900" y="2040533"/>
            <a:ext cx="358419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7B8B0"/>
                </a:solidFill>
                <a:latin typeface="DM Sans" pitchFamily="34" charset="0"/>
                <a:ea typeface="DM Sans" pitchFamily="34" charset="-122"/>
                <a:cs typeface="DM Sans" pitchFamily="34" charset="-120"/>
              </a:rPr>
              <a:t>ONE-TIME</a:t>
            </a:r>
            <a:endParaRPr lang="en-US" sz="1200" dirty="0"/>
          </a:p>
        </p:txBody>
      </p:sp>
      <p:sp>
        <p:nvSpPr>
          <p:cNvPr id="9" name="Text 6"/>
          <p:cNvSpPr/>
          <p:nvPr/>
        </p:nvSpPr>
        <p:spPr>
          <a:xfrm>
            <a:off x="7708900" y="2304653"/>
            <a:ext cx="35841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DM Sans" pitchFamily="34" charset="0"/>
                <a:ea typeface="DM Sans" pitchFamily="34" charset="-122"/>
                <a:cs typeface="DM Sans" pitchFamily="34" charset="-120"/>
              </a:rPr>
              <a:t>$75K brand, website and launch, in the startup budget</a:t>
            </a:r>
            <a:endParaRPr lang="en-US" sz="1200" dirty="0"/>
          </a:p>
        </p:txBody>
      </p:sp>
      <p:sp>
        <p:nvSpPr>
          <p:cNvPr id="10" name="Shape 7"/>
          <p:cNvSpPr/>
          <p:nvPr/>
        </p:nvSpPr>
        <p:spPr>
          <a:xfrm>
            <a:off x="7518400" y="3023394"/>
            <a:ext cx="3860800" cy="1020961"/>
          </a:xfrm>
          <a:prstGeom prst="roundRect">
            <a:avLst>
              <a:gd name="adj" fmla="val 8707"/>
            </a:avLst>
          </a:prstGeom>
          <a:solidFill>
            <a:srgbClr val="FFFDF8"/>
          </a:solidFill>
          <a:ln/>
        </p:spPr>
      </p:sp>
      <p:sp>
        <p:nvSpPr>
          <p:cNvPr id="11" name="Text 8"/>
          <p:cNvSpPr/>
          <p:nvPr/>
        </p:nvSpPr>
        <p:spPr>
          <a:xfrm>
            <a:off x="7708900" y="3188494"/>
            <a:ext cx="358419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48"/>
                </a:solidFill>
                <a:latin typeface="DM Sans" pitchFamily="34" charset="0"/>
                <a:ea typeface="DM Sans" pitchFamily="34" charset="-122"/>
                <a:cs typeface="DM Sans" pitchFamily="34" charset="-120"/>
              </a:rPr>
              <a:t>WHY IN-HOUSE</a:t>
            </a:r>
            <a:endParaRPr lang="en-US" sz="1200" dirty="0"/>
          </a:p>
        </p:txBody>
      </p:sp>
      <p:sp>
        <p:nvSpPr>
          <p:cNvPr id="12" name="Text 9"/>
          <p:cNvSpPr/>
          <p:nvPr/>
        </p:nvSpPr>
        <p:spPr>
          <a:xfrm>
            <a:off x="7708900" y="3452614"/>
            <a:ext cx="35841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4550"/>
                </a:solidFill>
                <a:latin typeface="DM Sans" pitchFamily="34" charset="0"/>
                <a:ea typeface="DM Sans" pitchFamily="34" charset="-122"/>
                <a:cs typeface="DM Sans" pitchFamily="34" charset="-120"/>
              </a:rPr>
              <a:t>We own the data, the website and the relationships, and pay no agency markup.</a:t>
            </a:r>
            <a:endParaRPr lang="en-US" sz="1200"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Staff costs include 22% taxes and benefits. About 6% of base-case Year 2 net revenue.</a:t>
            </a:r>
            <a:endParaRPr lang="en-US" sz="1200" dirty="0"/>
          </a:p>
        </p:txBody>
      </p:sp>
      <p:sp>
        <p:nvSpPr>
          <p:cNvPr id="14" name="Text 1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11</a:t>
            </a:r>
            <a:endParaRPr lang="en-US" sz="1200" dirty="0"/>
          </a:p>
        </p:txBody>
      </p:sp>
      <p:sp>
        <p:nvSpPr>
          <p:cNvPr id="15" name="Shape 12"/>
          <p:cNvSpPr/>
          <p:nvPr/>
        </p:nvSpPr>
        <p:spPr>
          <a:xfrm>
            <a:off x="0" y="6781800"/>
            <a:ext cx="12192000" cy="76200"/>
          </a:xfrm>
          <a:prstGeom prst="rect">
            <a:avLst/>
          </a:prstGeom>
          <a:solidFill>
            <a:srgbClr val="4A1A33"/>
          </a:solidFill>
          <a:ln/>
        </p:spPr>
      </p:sp>
      <p:pic>
        <p:nvPicPr>
          <p:cNvPr id="16"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6A48"/>
                </a:solidFill>
                <a:latin typeface="DM Sans" pitchFamily="34" charset="0"/>
                <a:ea typeface="DM Sans" pitchFamily="34" charset="-122"/>
                <a:cs typeface="DM Sans" pitchFamily="34" charset="-120"/>
              </a:rPr>
              <a:t>LAUNCH PLAN</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4A1A33"/>
                </a:solidFill>
                <a:latin typeface="Cormorant Garamond" pitchFamily="34" charset="0"/>
                <a:ea typeface="Cormorant Garamond" pitchFamily="34" charset="-122"/>
                <a:cs typeface="Cormorant Garamond" pitchFamily="34" charset="-120"/>
              </a:rPr>
              <a:t>Marketing starts months before the doors open</a:t>
            </a:r>
            <a:endParaRPr lang="en-US" sz="3600" dirty="0"/>
          </a:p>
        </p:txBody>
      </p:sp>
      <p:sp>
        <p:nvSpPr>
          <p:cNvPr id="4" name="Shape 2"/>
          <p:cNvSpPr/>
          <p:nvPr/>
        </p:nvSpPr>
        <p:spPr>
          <a:xfrm>
            <a:off x="812800" y="1881783"/>
            <a:ext cx="10566400" cy="0"/>
          </a:xfrm>
          <a:prstGeom prst="line">
            <a:avLst/>
          </a:prstGeom>
          <a:noFill/>
          <a:ln w="12700">
            <a:solidFill>
              <a:srgbClr val="141413">
                <a:alpha val="22000"/>
              </a:srgbClr>
            </a:solidFill>
            <a:prstDash val="solid"/>
          </a:ln>
        </p:spPr>
      </p:sp>
      <p:sp>
        <p:nvSpPr>
          <p:cNvPr id="5" name="Shape 3"/>
          <p:cNvSpPr/>
          <p:nvPr/>
        </p:nvSpPr>
        <p:spPr>
          <a:xfrm>
            <a:off x="819150" y="1875433"/>
            <a:ext cx="0" cy="3039533"/>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964333"/>
          <a:ext cx="10299700" cy="2874433"/>
        </p:xfrm>
        <a:graphic>
          <a:graphicData uri="http://schemas.openxmlformats.org/drawingml/2006/table">
            <a:tbl>
              <a:tblPr/>
              <a:tblGrid>
                <a:gridCol w="1647952"/>
                <a:gridCol w="8651748"/>
              </a:tblGrid>
              <a:tr h="359304">
                <a:tc>
                  <a:txBody>
                    <a:bodyPr/>
                    <a:lstStyle/>
                    <a:p>
                      <a:pPr indent="0" marL="0">
                        <a:lnSpc>
                          <a:spcPts val="1820"/>
                        </a:lnSpc>
                        <a:buNone/>
                      </a:pPr>
                      <a:r>
                        <a:rPr lang="en-US" sz="1300" b="1" dirty="0">
                          <a:solidFill>
                            <a:srgbClr val="FAF6F0"/>
                          </a:solidFill>
                          <a:latin typeface="DM Sans" pitchFamily="34" charset="0"/>
                          <a:ea typeface="DM Sans" pitchFamily="34" charset="-122"/>
                          <a:cs typeface="DM Sans" pitchFamily="34" charset="-120"/>
                        </a:rPr>
                        <a:t>Month</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c>
                  <a:txBody>
                    <a:bodyPr/>
                    <a:lstStyle/>
                    <a:p>
                      <a:pPr indent="0" marL="0">
                        <a:lnSpc>
                          <a:spcPts val="1820"/>
                        </a:lnSpc>
                        <a:buNone/>
                      </a:pPr>
                      <a:r>
                        <a:rPr lang="en-US" sz="1300" b="1" dirty="0">
                          <a:solidFill>
                            <a:srgbClr val="FAF6F0"/>
                          </a:solidFill>
                          <a:latin typeface="DM Sans" pitchFamily="34" charset="0"/>
                          <a:ea typeface="DM Sans" pitchFamily="34" charset="-122"/>
                          <a:cs typeface="DM Sans" pitchFamily="34" charset="-120"/>
                        </a:rPr>
                        <a:t>What happens</a:t>
                      </a:r>
                      <a:endParaRPr lang="en-US" sz="1300" dirty="0">
                        <a:latin typeface="DM Sans" charset="0"/>
                        <a:ea typeface="DM Sans" charset="0"/>
                        <a:cs typeface="DM Sans" charset="0"/>
                      </a:endParaRPr>
                    </a:p>
                  </a:txBody>
                  <a:tcPr marL="57785" marR="57785" marT="57785" marB="57785" anchor="t">
                    <a:lnL w="12700" cap="flat" cmpd="sng" algn="ctr">
                      <a:solidFill>
                        <a:srgbClr val="3E192C"/>
                      </a:solidFill>
                      <a:prstDash val="solid"/>
                      <a:round/>
                      <a:headEnd type="none" w="med" len="med"/>
                      <a:tailEnd type="none" w="med" len="med"/>
                    </a:lnL>
                    <a:lnR w="12700" cap="flat" cmpd="sng" algn="ctr">
                      <a:solidFill>
                        <a:srgbClr val="3E192C"/>
                      </a:solidFill>
                      <a:prstDash val="solid"/>
                      <a:round/>
                      <a:headEnd type="none" w="med" len="med"/>
                      <a:tailEnd type="none" w="med" len="med"/>
                    </a:lnR>
                    <a:lnT w="0" cap="flat" cmpd="sng" algn="ctr">
                      <a:noFill/>
                    </a:lnT>
                    <a:lnB w="12700" cap="flat" cmpd="sng" algn="ctr">
                      <a:solidFill>
                        <a:srgbClr val="3E192C"/>
                      </a:solidFill>
                      <a:prstDash val="solid"/>
                      <a:round/>
                      <a:headEnd type="none" w="med" len="med"/>
                      <a:tailEnd type="none" w="med" len="med"/>
                    </a:lnB>
                    <a:solidFill>
                      <a:srgbClr val="4A1A33"/>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M1–2</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Ashlee sets up brand guide, domain, CRM and call tracking; website in production</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3E192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M3</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Outreach and digital marketing manager starts; referral target list; ad accounts set up</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M4</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Website live; Google Business Profile and directories; $10K a month pre-launch search and social</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M5</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Open house for referral partners; admissions coordinators hired and trained</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M6</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Doors open with the ED and OCD tracks; paid media to $25K a month; weekly cost-per-admission review</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M8</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PHP opens; step-down messaging added; alumni program starts</a:t>
                      </a:r>
                      <a:endParaRPr lang="en-US" sz="1300" dirty="0">
                        <a:latin typeface="DM Sans" charset="0"/>
                        <a:ea typeface="DM Sans" charset="0"/>
                        <a:cs typeface="DM Sans" charset="0"/>
                      </a:endParaRPr>
                    </a:p>
                  </a:txBody>
                  <a:tcPr marL="57785" marR="57785" marT="57785" marB="57785" anchor="t">
                    <a:lnL w="12700" cap="flat" cmpd="sng" algn="ctr">
                      <a:solidFill>
                        <a:srgbClr val="C7C4BF"/>
                      </a:solidFill>
                      <a:prstDash val="solid"/>
                      <a:round/>
                      <a:headEnd type="none" w="med" len="med"/>
                      <a:tailEnd type="none" w="med" len="med"/>
                    </a:lnL>
                    <a:lnR w="12700" cap="flat" cmpd="sng" algn="ctr">
                      <a:solidFill>
                        <a:srgbClr val="C7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7C4BF"/>
                      </a:solidFill>
                      <a:prstDash val="solid"/>
                      <a:round/>
                      <a:headEnd type="none" w="med" len="med"/>
                      <a:tailEnd type="none" w="med" len="med"/>
                    </a:lnB>
                    <a:solidFill>
                      <a:srgbClr val="FAF6F0"/>
                    </a:solidFill>
                  </a:tcPr>
                </a:tc>
              </a:tr>
              <a:tr h="359304">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M11–14</a:t>
                      </a:r>
                      <a:endParaRPr lang="en-US" sz="1300" dirty="0">
                        <a:latin typeface="DM Sans" charset="0"/>
                        <a:ea typeface="DM Sans" charset="0"/>
                        <a:cs typeface="DM Sans" charset="0"/>
                      </a:endParaRPr>
                    </a:p>
                  </a:txBody>
                  <a:tcPr marL="57785" marR="57785" marT="57785" marB="57785"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2E1522"/>
                          </a:solidFill>
                          <a:latin typeface="DM Sans" pitchFamily="34" charset="0"/>
                          <a:ea typeface="DM Sans" pitchFamily="34" charset="-122"/>
                          <a:cs typeface="DM Sans" pitchFamily="34" charset="-120"/>
                        </a:rPr>
                        <a:t>Accreditation survey, then the seal on the website, ads and referral materials</a:t>
                      </a:r>
                      <a:endParaRPr lang="en-US" sz="1300" dirty="0">
                        <a:latin typeface="DM Sans" charset="0"/>
                        <a:ea typeface="DM Sans" charset="0"/>
                        <a:cs typeface="DM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7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7" name="Text 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A62"/>
                </a:solidFill>
                <a:latin typeface="DM Sans" pitchFamily="34" charset="0"/>
                <a:ea typeface="DM Sans" pitchFamily="34" charset="-122"/>
                <a:cs typeface="DM Sans" pitchFamily="34" charset="-120"/>
              </a:rPr>
              <a:t>Months count from project start, matching the investor deck and pro forma</a:t>
            </a:r>
            <a:endParaRPr lang="en-US" sz="1200" dirty="0"/>
          </a:p>
        </p:txBody>
      </p:sp>
      <p:sp>
        <p:nvSpPr>
          <p:cNvPr id="8" name="Text 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5A62"/>
                </a:solidFill>
                <a:latin typeface="DM Sans" pitchFamily="34" charset="0"/>
                <a:ea typeface="DM Sans" pitchFamily="34" charset="-122"/>
                <a:cs typeface="DM Sans" pitchFamily="34" charset="-120"/>
              </a:rPr>
              <a:t>12</a:t>
            </a:r>
            <a:endParaRPr lang="en-US" sz="1200" dirty="0"/>
          </a:p>
        </p:txBody>
      </p:sp>
      <p:sp>
        <p:nvSpPr>
          <p:cNvPr id="9" name="Shape 6"/>
          <p:cNvSpPr/>
          <p:nvPr/>
        </p:nvSpPr>
        <p:spPr>
          <a:xfrm>
            <a:off x="0" y="6781800"/>
            <a:ext cx="12192000" cy="76200"/>
          </a:xfrm>
          <a:prstGeom prst="rect">
            <a:avLst/>
          </a:prstGeom>
          <a:solidFill>
            <a:srgbClr val="4A1A33"/>
          </a:solidFill>
          <a:ln/>
        </p:spPr>
      </p:sp>
      <p:pic>
        <p:nvPicPr>
          <p:cNvPr id="10"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7B8B0"/>
                </a:solidFill>
                <a:latin typeface="DM Sans" pitchFamily="34" charset="0"/>
                <a:ea typeface="DM Sans" pitchFamily="34" charset="-122"/>
                <a:cs typeface="DM Sans" pitchFamily="34" charset="-120"/>
              </a:rPr>
              <a:t>HOW WE MEASURE IT</a:t>
            </a:r>
            <a:endParaRPr lang="en-US" sz="1200" dirty="0"/>
          </a:p>
        </p:txBody>
      </p:sp>
      <p:sp>
        <p:nvSpPr>
          <p:cNvPr id="3" name="Text 1"/>
          <p:cNvSpPr/>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FAF6F0"/>
                </a:solidFill>
                <a:latin typeface="Cormorant Garamond" pitchFamily="34" charset="0"/>
                <a:ea typeface="Cormorant Garamond" pitchFamily="34" charset="-122"/>
                <a:cs typeface="Cormorant Garamond" pitchFamily="34" charset="-120"/>
              </a:rPr>
              <a:t>One weekly dashboard, from click to admission</a:t>
            </a:r>
            <a:endParaRPr lang="en-US" sz="3600" dirty="0"/>
          </a:p>
        </p:txBody>
      </p:sp>
      <p:sp>
        <p:nvSpPr>
          <p:cNvPr id="4" name="Shape 2"/>
          <p:cNvSpPr/>
          <p:nvPr/>
        </p:nvSpPr>
        <p:spPr>
          <a:xfrm>
            <a:off x="812800" y="1907183"/>
            <a:ext cx="3403600" cy="0"/>
          </a:xfrm>
          <a:prstGeom prst="line">
            <a:avLst/>
          </a:prstGeom>
          <a:noFill/>
          <a:ln w="12700">
            <a:solidFill>
              <a:srgbClr val="E7B8B0"/>
            </a:solidFill>
            <a:prstDash val="solid"/>
          </a:ln>
        </p:spPr>
      </p:sp>
      <p:sp>
        <p:nvSpPr>
          <p:cNvPr id="5" name="Text 3"/>
          <p:cNvSpPr/>
          <p:nvPr/>
        </p:nvSpPr>
        <p:spPr>
          <a:xfrm>
            <a:off x="812800" y="2053233"/>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Demand</a:t>
            </a:r>
            <a:endParaRPr lang="en-US" sz="1500" dirty="0"/>
          </a:p>
        </p:txBody>
      </p:sp>
      <p:sp>
        <p:nvSpPr>
          <p:cNvPr id="6" name="Text 4"/>
          <p:cNvSpPr/>
          <p:nvPr/>
        </p:nvSpPr>
        <p:spPr>
          <a:xfrm>
            <a:off x="812800" y="2345333"/>
            <a:ext cx="3505708" cy="7112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Calls and forms, by source</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Organic search traffic</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New reviews and rating</a:t>
            </a:r>
            <a:endParaRPr lang="en-US" sz="1200" dirty="0"/>
          </a:p>
        </p:txBody>
      </p:sp>
      <p:sp>
        <p:nvSpPr>
          <p:cNvPr id="7" name="Shape 5"/>
          <p:cNvSpPr/>
          <p:nvPr/>
        </p:nvSpPr>
        <p:spPr>
          <a:xfrm>
            <a:off x="4394200" y="1907183"/>
            <a:ext cx="3403600" cy="0"/>
          </a:xfrm>
          <a:prstGeom prst="line">
            <a:avLst/>
          </a:prstGeom>
          <a:noFill/>
          <a:ln w="12700">
            <a:solidFill>
              <a:srgbClr val="E7B8B0"/>
            </a:solidFill>
            <a:prstDash val="solid"/>
          </a:ln>
        </p:spPr>
      </p:sp>
      <p:sp>
        <p:nvSpPr>
          <p:cNvPr id="8" name="Text 6"/>
          <p:cNvSpPr/>
          <p:nvPr/>
        </p:nvSpPr>
        <p:spPr>
          <a:xfrm>
            <a:off x="4394200" y="2053233"/>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Conversion</a:t>
            </a:r>
            <a:endParaRPr lang="en-US" sz="1500" dirty="0"/>
          </a:p>
        </p:txBody>
      </p:sp>
      <p:sp>
        <p:nvSpPr>
          <p:cNvPr id="9" name="Text 7"/>
          <p:cNvSpPr/>
          <p:nvPr/>
        </p:nvSpPr>
        <p:spPr>
          <a:xfrm>
            <a:off x="4394200" y="2345333"/>
            <a:ext cx="3505708" cy="7112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Calls answered live</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Benefits checks done same day</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Inquiry-to-admission rate</a:t>
            </a:r>
            <a:endParaRPr lang="en-US" sz="1200" dirty="0"/>
          </a:p>
        </p:txBody>
      </p:sp>
      <p:sp>
        <p:nvSpPr>
          <p:cNvPr id="10" name="Shape 8"/>
          <p:cNvSpPr/>
          <p:nvPr/>
        </p:nvSpPr>
        <p:spPr>
          <a:xfrm>
            <a:off x="7975600" y="1907183"/>
            <a:ext cx="3403600" cy="0"/>
          </a:xfrm>
          <a:prstGeom prst="line">
            <a:avLst/>
          </a:prstGeom>
          <a:noFill/>
          <a:ln w="12700">
            <a:solidFill>
              <a:srgbClr val="E7B8B0"/>
            </a:solidFill>
            <a:prstDash val="solid"/>
          </a:ln>
        </p:spPr>
      </p:sp>
      <p:sp>
        <p:nvSpPr>
          <p:cNvPr id="11" name="Text 9"/>
          <p:cNvSpPr/>
          <p:nvPr/>
        </p:nvSpPr>
        <p:spPr>
          <a:xfrm>
            <a:off x="7975600" y="2053233"/>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6F0"/>
                </a:solidFill>
                <a:latin typeface="DM Sans" pitchFamily="34" charset="0"/>
                <a:ea typeface="DM Sans" pitchFamily="34" charset="-122"/>
                <a:cs typeface="DM Sans" pitchFamily="34" charset="-120"/>
              </a:rPr>
              <a:t>Return</a:t>
            </a:r>
            <a:endParaRPr lang="en-US" sz="1500" dirty="0"/>
          </a:p>
        </p:txBody>
      </p:sp>
      <p:sp>
        <p:nvSpPr>
          <p:cNvPr id="12" name="Text 10"/>
          <p:cNvSpPr/>
          <p:nvPr/>
        </p:nvSpPr>
        <p:spPr>
          <a:xfrm>
            <a:off x="7975600" y="2345333"/>
            <a:ext cx="3505708" cy="7112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Cost per admission, by channel</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Admissions by referral partner</a:t>
            </a:r>
            <a:endParaRPr lang="en-US" sz="1200" dirty="0"/>
          </a:p>
          <a:p>
            <a:pPr algn="l" marL="182880" indent="-155194">
              <a:lnSpc>
                <a:spcPts val="1800"/>
              </a:lnSpc>
              <a:buSzPct val="100000"/>
              <a:buChar char="•"/>
            </a:pPr>
            <a:r>
              <a:rPr lang="en-US" sz="1200" dirty="0">
                <a:solidFill>
                  <a:srgbClr val="EFDCDD"/>
                </a:solidFill>
                <a:latin typeface="DM Sans" pitchFamily="34" charset="0"/>
                <a:ea typeface="DM Sans" pitchFamily="34" charset="-122"/>
                <a:cs typeface="DM Sans" pitchFamily="34" charset="-120"/>
              </a:rPr>
              <a:t>Step-down to PHP and IOP</a:t>
            </a:r>
            <a:endParaRPr lang="en-US" sz="1200" dirty="0"/>
          </a:p>
        </p:txBody>
      </p:sp>
      <p:sp>
        <p:nvSpPr>
          <p:cNvPr id="13" name="Text 11"/>
          <p:cNvSpPr/>
          <p:nvPr/>
        </p:nvSpPr>
        <p:spPr>
          <a:xfrm>
            <a:off x="812800" y="3310533"/>
            <a:ext cx="102031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AF6F0"/>
                </a:solidFill>
                <a:latin typeface="DM Sans" pitchFamily="34" charset="0"/>
                <a:ea typeface="DM Sans" pitchFamily="34" charset="-122"/>
                <a:cs typeface="DM Sans" pitchFamily="34" charset="-120"/>
              </a:rPr>
              <a:t>Investors see the same numbers management does,</a:t>
            </a:r>
            <a:r>
              <a:rPr lang="en-US" sz="1400" dirty="0">
                <a:solidFill>
                  <a:srgbClr val="FAF6F0"/>
                </a:solidFill>
                <a:latin typeface="DM Sans" pitchFamily="34" charset="0"/>
                <a:ea typeface="DM Sans" pitchFamily="34" charset="-122"/>
                <a:cs typeface="DM Sans" pitchFamily="34" charset="-120"/>
              </a:rPr>
              <a:t> monthly, alongside census and revenue.</a:t>
            </a:r>
            <a:endParaRPr lang="en-US" sz="1400" dirty="0"/>
          </a:p>
        </p:txBody>
      </p:sp>
      <p:sp>
        <p:nvSpPr>
          <p:cNvPr id="14" name="Text 1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A9B3"/>
                </a:solidFill>
                <a:latin typeface="DM Sans" pitchFamily="34" charset="0"/>
                <a:ea typeface="DM Sans" pitchFamily="34" charset="-122"/>
                <a:cs typeface="DM Sans" pitchFamily="34" charset="-120"/>
              </a:rPr>
              <a:t>13</a:t>
            </a:r>
            <a:endParaRPr lang="en-US" sz="1200" dirty="0"/>
          </a:p>
        </p:txBody>
      </p:sp>
      <p:sp>
        <p:nvSpPr>
          <p:cNvPr id="15" name="Shape 13"/>
          <p:cNvSpPr/>
          <p:nvPr/>
        </p:nvSpPr>
        <p:spPr>
          <a:xfrm>
            <a:off x="0" y="6781800"/>
            <a:ext cx="12192000" cy="76200"/>
          </a:xfrm>
          <a:prstGeom prst="rect">
            <a:avLst/>
          </a:prstGeom>
          <a:solidFill>
            <a:srgbClr val="E7B8B0"/>
          </a:solidFill>
          <a:ln/>
        </p:spPr>
      </p:sp>
      <p:pic>
        <p:nvPicPr>
          <p:cNvPr id="16" name="Image 0" descr="EverBloom emblem">    </p:cNvPr>
          <p:cNvPicPr>
            <a:picLocks noChangeAspect="1"/>
          </p:cNvPicPr>
          <p:nvPr/>
        </p:nvPicPr>
        <p:blipFill>
          <a:blip r:embed="rId1"/>
          <a:srcRect l="0" r="0" t="-78" b="-78"/>
          <a:stretch/>
        </p:blipFill>
        <p:spPr>
          <a:xfrm>
            <a:off x="10363200" y="254000"/>
            <a:ext cx="1016000" cy="8191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EverBloom Marketing and Brand Portfolio</dc:title>
  <dc:subject>PptxGenJS Presentation</dc:subject>
  <dc:creator>PptxGenJS</dc:creator>
  <cp:lastModifiedBy>PptxGenJS</cp:lastModifiedBy>
  <cp:revision>1</cp:revision>
  <dcterms:created xsi:type="dcterms:W3CDTF">2026-09-25T21:44:51Z</dcterms:created>
  <dcterms:modified xsi:type="dcterms:W3CDTF">2026-09-25T21:44:51Z</dcterms:modified>
</cp:coreProperties>
</file>